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0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2592 426,'628'186,"-389"-116,745 195,-642-205,-247-45,142 23,732 116,1709 271,-1573-250,-281-43,-271-43,-22 1,-119-1,-181-37,425 108,-548-129,-1 4,-2 5,43 25,-24-10,3-6,9-3,47 15,57 32,21 8,-72-29,-4 7,61 41,159 102,-91-35,-21-4,-217-128,-2 4,16 19,-25-21,345 317,-279-241,110 147,116 155,-300-364,21 24,-61-80,0 0,2-1,-1-1,2-1,10 4,49 34,-36-19,14 10,-2 2,37 40,-84-75,-1 1,0 1,0-1,-1 1,-1 0,1 1,-2-1,0 1,0 0,2 9,3 20,-2 1,1 16,-2-10,0 5,-1 1,-3-1,-3 1,-1-1,-3 0,-2 1,-3-2,-1 1,-3-2,-2 0,-2 0,-3-2,-1 0,-25 37,3-18,-2-2,-4-2,-2-2,-2-2,-3-3,-3-2,-2-4,-2-1,-2-4,-43 21,68-44,-2-2,0-2,-1-2,-32 6,-185 35,106-26,-28 3,-1-8,-179 1,-379-23,384-7,27-7,2-14,-26-17,-645-127,-32-21,-345-65,790 147,-567-117,-163-37,881 188,-242-80,589 129,-181-49,-63-36,318 104,1-1,-1 0,1-1,0-1,1-1,0 0,0 0,0-2,9 7,1 1,-1-1,1 1,0-1,1 0,-1 0,1 0,-1-1,1 1,1-1,-1 1,1-1,-1 1,1-1,0 0,1 0,-1 0,1 1,0-1,1 0,-1 0,1 0,-1 0,2 1,-1-1,0 0,1 1,0-2,6-10,0 0,1 1,1 0,0 0,1 1,1 1,0-1,0 2,2 0,5-4,34-25,2 3,9-2,-39 24,81-46,2 4,19-2,229-89,-235 100,269-93,6 18,61 3,259-44,642-58,-1037 192,7 14,325 7,80-4,-1-21,1006-28,421 8,-156 33,-1308 24,2002-2,-2329 7,113 27,-223-3,-3 11,69 27,-297-62,0 1,-1 1,0 1,-1 1,0 1,0 2,-2 0,0 2,3 3,-23-17,-1 0,1 0,-1 1,0-1,1 1,-1-1,0 1,-1 0,1 0,-1 0,1 0,-1 0,0 0,0 0,0 0,0 1,-1-1,1 3,-1 0,0-1,-1 0,0 1,0-1,0 0,-1 1,1-1,-1 0,0 0,-1 0,0 0,-10 16,0-1,-2-1,0 0,-1-1,-1-1,4-4,-43 47,-2-3,-3-2,-44 29,-119 74,-201 105,-560 225,701-353,-32 7,-7-15,-317 80,77-70,-22-21,401-82,-1704 268,1756-283,-2111 214,1144-183,-143 10,345 27,-12 41,367-46,-929 162,999-157,-140 30,267-50,-85 19,193-23,3 10,-4 13,180-65,19-7,1 1,-25 15,62-30,0 0,0 0,1 1,-1-1,0 0,1 0,-1 1,0-1,1 0,-1 1,1-1,-1 1,1-1,-1 1,1-1,-1 1,1-1,-1 1,1-1,-1 1,1 0,0-1,-1 1,1-1,0 1,0 0,0 0,-1-1,1 1,0 0,0-1,0 1,0 0,0-1,0 1,0 0,0 0,1-1,-1 2,2-1,0 1,-1 0,1-1,0 0,0 1,1-1,-1 0,0 0,0 0,1 0,-1 0,1 0,72 14,20-6,0-4,49-5,193-21,451-81,-2-42,-271 46,1829-386,-1061 196,-36 8,784-241,-1448 356,1068-309,506-173,-293 23,-355 65,53-55,-1227 468,180-74,-327 149,155-35,-19 25,246-68,-561 146,257-69,-211 61,0 2,1 3,51 0,-66 6,-20-1,0 1,0 1,0 0,0 2,-1 0,-13-1,0 0,0 1,0 0,-1 0,1 0,-1 0,0 1,0 0,0 1,0-1,-1 1,0 0,0 1,0-1,0 1,1 2,20 35,-2 0,-1 1,-2 1,-3 1,-1 1,-3 1,3 17,15 96,5 93,-28-178,12 172,-11 2,-14 78,2-75,-4-88,-7 0,-8-1,-6-1,-27 76,-52 140,-57 105,-240 509,292-766,-9-5,-72 89,-312 398,389-561,-6-6,-7-5,-5-5,-6-7,-5-6,-129 80,46-52,-6-11,-120 46,146-95,-4-9,-3-9,-3-10,-44 0,-170 24,-3-19,-3-18,-53-18,-2046-6,1110-74,-2-44,-697-102,18-130,1148 121,-17-49,-188-120,1141 367,-559-214,11-27,362 148,5-10,-79-63,193 113,2-4,4-4,2-4,4-3,3-4,-13-25,61 71,3-1,1-2,1 0,2-1,2-1,-2-13,11 29,2 0,1 0,1-1,1 0,0 0,3 0,0 0,1 0,1 0,2 0,4-19,1 15,2 1,0 0,2 0,2 1,0 1,2 0,0 1,17-18,27-29,4 2,14-8,96-84,157-110,215-112,-117 117,12 20,11 19,268-86,96 22,14 43,332-47,-615 187,84 14,-280 53,826-113,299-55,-803 144,141 26,-704 38,1326-48,538-22,5 70,-927 6,-578-3,524-3,-683-11,22-16,308-51,-479 57,506-58,230-32,-378 18,-511 93,73-12,0 4,52 0,-614 9,-698 4,-15 59,624-25,-3977 251,2358-131,1716-121,-945 48,-440-79,1067-8,-438-10,-7 0,-6308 14,7269-3,0-12,1-12,-7-13,-1387-185,1596 217,-296-37,260 27,0-5,-46-19,120 32,2-1,-1-2,-8-5,28 13,0-1,0 0,0 0,1 0,0-1,0 0,0 0,1-1,0 0,0 0,1-1,-4-6,8 12,0-1,0 0,1 1,-1-1,1 0,-1 1,1-1,0 0,0 0,0 1,1-1,-1 0,1 0,-1 1,1-1,0 0,0 1,0-1,0 1,0-1,1 1,-1 0,1-1,0 1,-1 0,1 0,0 0,0 0,2 0,9-10,1 1,0 1,1 0,8-3,4-4,123-89,-47 30,36-14,448-218,-303 165,13-1,309-102,-192 108,118-11,542-89,8 36,-806 152,1859-286,965-3,-2608 298,307-31,-485 26,164-52,-280 54,101-11,93 2,307-9,-378 36,764-24,3 52,-424 3,6821-5,-7440 5,-44-5,-1 0,0 0,1 0,-1 0,0 0,1 1,-1-1,1 0,-1 0,0 0,1 0,-1 1,0-1,1 0,-1 0,0 1,0-1,1 0,-1 1,0-1,0 0,1 1,-1-1,0 0,0 1,0-1,0 0,0 1,1-1,-1 1,0-1,0 0,0 1,-1 0,0 1,0-1,0 0,0 0,0 0,0 0,0 0,-1 0,1 0,0 0,-1 0,1-1,0 1,-1 0,0-1,-64 27,-1-3,0-4,-2-2,-47 5,58-11,-697 117,-5-33,44-6,-695 37,1401-126,-1162 45,301-34,-284 1,-325 24,105 0,-2363-35,1766-5,-9413 3,12144-24,-219-24,1298-103,-341 85,-985 50,261-13,745-25,834-7,-182 27,-1648 28,2968-1,-1980 10,334-55,-530 1,0 51,-537 4,3306-4,-3427 15,227 50,-675-41,-2 8,-1 10,-2 9,60 29,-200-57,-2 2,-1 2,-2 4,0 1,43 35,-82-52,0 0,-1 1,-1 1,-1 1,0 1,-1 0,-1 1,-1 0,0 1,-2 1,-1-1,0 2,-2 0,0 0,-2 0,0 1,-2 0,-1 0,-1 0,0 0,-3 18,0-5,-3 0,0 0,-3 0,-1-1,-2 0,-1-1,-1 0,-3 1,-15 26,-1-2,-4-1,-39 52,-20 20,-6-4,-61 56,4-29,-176 132,-204 100,-25-23,-17-24,110-98,-10-20,-9-21,-48-9,-826 226,-16-60,-339 0,26-121,-13-83,1487-135,-2902 203,2488-195,-203 14,417-6,3 18,-11 21,-621 119,752-139,3 12,-182 70,110-9,-289 147,508-204,2 6,5 6,2 6,-30 32,114-77,2 1,1 3,3 2,-30 42,60-68,1 1,1 1,1 0,1 1,1 0,1 1,2 0,0 0,2 1,1-1,1 1,1 0,1 0,2 0,2 16,-1-30,1 0,0 0,0-1,1 0,1 1,0-2,1 1,0 0,1-1,0 0,1-1,0 0,0 0,1-1,1 1,-1-2,1 0,1 0,6 3,16 10,1-1,1-1,1-3,1-1,33 10,90 18,1-6,1-7,2-8,50-3,666-6,-547-16,1005-67,-462 13,448 7,-85 5,1962-110,-547 67,-334 81,-1300 10,451 16,-654-15,-92-2,-156 27,-476-23,-41-4,0 3,-1 1,1 3,22 8,-64-13,1 0,-1 1,-1 0,1 1,-1 0,0 0,0 1,0 0,-1 1,-1 0,1 0,-1 1,6 8,-10-13,-1 0,1 0,-1 1,1-1,-1 0,-1 1,1-1,-1 1,1 0,-1 0,0-1,-1 1,1 0,-1 0,0 0,-1 0,1-1,-1 1,0 0,0 0,0-1,-1 1,1 0,-1-1,0 0,0 1,-1-1,0 0,1 0,-1 0,-1-1,1 1,-28 24,-1-2,-1-1,-1-2,-23 12,-16 11,-12 6,-3-3,-37 13,-189 71,-80 5,-83 3,223-67,-113 23,-164 14,-379 33,677-109,-1015 99,-5-62,680-43,-716 7,916-30,-2270 1,1167-47,505 9,-1814 4,2016 25,-660 5,1140 8,-93 23,-283 59,69 24,466-81,2 6,2 5,-10 12,45-21,42-16,2 2,0 3,2 1,-3 5,19-14,22-16,-1 1,1 0,0 1,1-1,-1 2,1-1,0 1,0 0,1 0,-1 0,2 1,-1-1,-2 7,6-12,1 1,0 0,0-1,0 1,0 0,0 0,0-1,0 1,0 0,1-1,-1 1,1 0,-1-1,1 1,0-1,-1 1,1-1,0 1,0-1,0 0,0 1,0-1,1 0,-1 0,0 0,1 0,-1 0,0 0,1 0,-1 0,1 0,0 0,60 22,-49-19,254 74,2-12,116 8,556 51,-298-73,77-28,962-18,-926-8,8209 2,-8365 15,-2 27,163 49,-504-57,37 5,92 33,-316-56,35 8,48 20,-123-34,-1 1,1 2,-2 1,0 1,-1 2,-1 0,7 7,-27-19,-1 0,1 0,-1 0,0 1,0-1,-1 1,0 0,0 1,0-1,-1 1,0-1,0 1,0 0,-1 0,1 5,-3-6,1-1,-1 1,0 0,-1-1,0 1,0-1,0 1,0-1,-1 1,0-1,0 0,0 0,-1 0,1 0,-1 0,-1 0,1-1,-1 0,1 1,-1-1,0-1,-33 32,-1-2,-2-2,0-1,-22 10,-56 28,-8-3,-3-7,-4-6,-91 21,-109 18,-78 0,143-34,-52 13,-286 24,-781-19,-4-70,799-7,-965-70,-1992-292,2757 300,240 23,133-11,-89-37,372 64,-282-39,-2 18,-23 18,-847 6,-2376 26,2791-44,8-50,316 17,-26-31,542 98,18 3,0 0,0-1,0-1,1 0,-16-8,32 13,-1 0,1 0,0 0,-1 0,1-1,-1 1,1 0,0 0,-1 0,1-1,0 1,-1 0,1-1,0 1,0 0,-1 0,1-1,0 1,0-1,-1 1,1 0,0-1,0 1,0 0,0-1,0 1,0-1,0 1,0-1,0 1,0 0,0-1,0 1,0-1,0 1,0 0,13-11,30-1,-39 11,41-7,0 2,1 2,0 3,0 1,5 3,34-2,1754 0,-1554 11,149 29,47 5,509 35,-394-28,108 7,450 34,-956-80,721 31,-334-33,17 0,6494-13,-5808-37,31 0,1070 40,-2347 0,0 2,0 2,17 6,70 9,-68-13,30 10,-33-6,35 2,-71-12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3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9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1009 1,'-3'40,"-2"0,-2 0,-2 0,-2-1,-1 0,-9 18,-56 144,-67 196,94-219,-27 85,-71 231,-8 30,98-285,-37 130,16-73,60-224,-16 77,32-128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6:18:12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2964 0,'144'8,"0"5,66 18,-165-24,471 80,1013 114,-1100-164,1355 95,-1732-129,1628 47,-1171-38,-54 0,102 2,-212-2,-29-3,394 6,-595-16,549 16,-117-4,-370-12,-175 1,29 2,-31-2,0 0,1 0,-1 0,0 0,1 1,-1-1,1 0,-1 0,0 0,1 0,-1 0,0 1,1-1,-1 0,0 0,0 1,1-1,-1 0,0 0,0 1,1-1,-1 0,0 1,0-1,0 0,1 1,-1-1,0 0,0 1,0-1,0 1,0-1,0 0,0 1,0-1,0 1,0-1,0 0,0 1,0-1,0 0,0 1,0-1,-1 0,1 1,0-1,0 0,0 1,-1-1,1 0,0 1,0-1,-1 0,1 1,0-1,0 0,-1 0,1 0,0 1,-1-1,1 0,0 0,-1 0,1 0,0 0,-1 1,1-1,-1 0,1 0,0 0,-17 10,0 0,-1-1,0-1,0-1,-1 0,0-2,-13 3,-13 5,-198 56,-93 7,28-20,-243 9,240-40,-1054 55,794-68,-352 2,98-16,-683 4,61 39,1342-38,-831 62,776-52,-1025 101,524-48,-584 70,1019-110,-42 7,-146 42,280-54,854-24,217-6,1038-8,-1250 20,-307-3,1996-16,-1242 7,402-11,353-10,-1509 28,714-41,-522 12,2021 5,-1731 29,-496-4,346-50,368-109,-1084 155,899-88,-873 89,600-51,-429 29,-503 28,-443 12,212 3,-38 3,-4219 101,-7643-122,11792 27,138-2,417-23,45-1,37-1,246-4,13-14,141-6,239 22,-347 5,656 0,1652-4,-1883-10,189 0,230-1,94 0,4757 14,-4418-76,-1234 49,69-5,225-53,-450 56,-107 16,0-3,0-6,-188 16,-1590-9,-195-22,-2 36,788 2,-10425-2,11340 1,0 7,-153 29,293-27,29-3,21 0,27-2,1-2,-1-2,40-3,2-1,528-31,-300 10,3280-66,-3454 90,2598-15,338 3,-1882 14,5302-2,-6472 3,-37 3,-39 6,-151 23,-228 33,-1282 42,-5-98,614-10,346 9,-321 3,-6656-15,6434 35,811 9,-196 53,602-82,-244 45,255-41,2 2,0 4,-26 14,88-34,1 0,0 1,0 0,0 1,1 0,-6 5,13-10,0-1,0 1,1 0,-1 0,0-1,1 1,-1 0,1 0,-1 0,1 0,-1 0,1-1,0 1,-1 0,1 0,0 0,0 0,0 0,0 0,0 0,0 0,0 0,0 0,0 0,0 0,0 1,2 0,-1-1,1 1,-1 0,1-1,0 1,0-1,0 0,0 1,0-1,0 0,0 0,0 0,0 0,0-1,0 1,0-1,3 1,105 22,2-5,0-4,51-4,-9 2,-98-8,746 61,-472-43,1074 59,408-70,-1084-14,7051 3,-6895-30,-7-36,-650 47,695-67,-397 34,356-12,-521 60,-276 5,-206-1,-823 23,-859 44,672-38,-2879 50,-114-80,2273 70,778 57,1007-117,-214 41,43-7,236-43,0 0,0 0,0 0,0 0,0 1,1-1,-1 1,0-1,0 1,0-1,1 1,-1 0,0 0,1 0,-2 1,22 5,49 1,794-6,-426-4,7033 2,-4764-70,-2453 58,1361-71,-3-68,916-143,-618 175,-1579 103,-2-15,57-24,27-25,176-31,622-136,-758 119,-385 108,-4 6,-87 16,-1 0,1-2,-15-2,-23 0,-143 2,-454 6,-35 31,-980 174,1238-149,-4184 470,2810-400,1023-68,-321 17,258-64,90-2,-2508 37,3237-52,-726 5,5 38,-281 79,-660 177,817-112,841-181,26-5,-1 0,1 1,0 1,0 0,0 0,-9 4,57 5,71 2,1-5,1-5,8-5,153 6,445 16,-284-12,1358 3,-229-5,1842 10,-2152-20,377-35,-962 10,519-30,1119-163,-29-77,-1501 222,-738 73,407-45,426-104,-317 30,-176 23,-375 98,0 1,0 0,0-1,0 1,0-1,-1 1,1-1,0 0,0 0,-1 1,1-1,0-1,-1 1,1 0,-1 0,1-1,-1 1,0 0,-1 0,0 0,0 1,-1-1,1 0,0 1,-1-1,1 1,0-1,-1 1,1-1,-1 1,1-1,-1 1,1-1,-1 1,1-1,-1 1,1 0,-1-1,0 1,1 0,-1 0,0-1,1 1,-1 0,0 0,1 0,-2 0,-64-11,-64 3,-370-10,-3370 19,2949 11,14 1,-653 3,918-7,-659 40,-94 1,-563-52,-169 2,906 25,936-14,0 12,-20 16,-24 22,-98 41,321-75,-294 86,391-109,0-1,1 1,-1 0,1 1,-8 5,15-10,0 1,0 0,0-1,1 1,-1 0,0 0,0 0,1 0,-1 0,0 0,1 0,-1 0,1 0,-1 0,1 0,0 0,-1 0,1 0,0 0,0 0,0 1,0-1,0 0,1 1,0-1,-1 0,1 0,0 1,0-1,0 0,-1 0,1 0,0 0,0 0,1 0,-1 0,0-1,0 1,0 0,1 0,-1-1,0 1,1-1,-1 1,27 9,-1-2,1 0,1-2,-1-1,20 0,33 7,227 33,147-4,-170-18,1486 69,6-81,-1611-11,909 13,-45 0,8351-14,-8972-11,330-54,398-106,-1048 158,679-134,-577 115,-104 20,-1-3,70-24,-248 34,-75-2,25 0,-116 10,82 15,-130 31,-170 55,71-14,143-44,-2-13,-22-9,124-18,116-5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40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35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64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83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85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31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83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83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20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0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DECC-1E7D-4686-83A8-B0B7860DE8ED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71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96E3B-2DA3-408C-BE85-1E17B05C0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Разбиение графа на две части методом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DA99B-38B6-46D3-BF8B-5C6C14B70578}"/>
              </a:ext>
            </a:extLst>
          </p:cNvPr>
          <p:cNvSpPr txBox="1"/>
          <p:nvPr/>
        </p:nvSpPr>
        <p:spPr>
          <a:xfrm>
            <a:off x="8930936" y="5657671"/>
            <a:ext cx="3261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Работу выполнили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Чернышов Сергей</a:t>
            </a:r>
          </a:p>
          <a:p>
            <a:r>
              <a:rPr lang="ru-RU" dirty="0"/>
              <a:t>Плотников Кирилл</a:t>
            </a:r>
          </a:p>
          <a:p>
            <a:r>
              <a:rPr lang="ru-RU" dirty="0"/>
              <a:t>студенты группы 3822Б1ПИмэ1</a:t>
            </a:r>
          </a:p>
        </p:txBody>
      </p:sp>
    </p:spTree>
    <p:extLst>
      <p:ext uri="{BB962C8B-B14F-4D97-AF65-F5344CB8AC3E}">
        <p14:creationId xmlns:p14="http://schemas.microsoft.com/office/powerpoint/2010/main" val="174624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/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−генератор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blipFill>
                <a:blip r:embed="rId2"/>
                <a:stretch>
                  <a:fillRect l="-1715" r="-1715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/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где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blipFill>
                <a:blip r:embed="rId3"/>
                <a:stretch>
                  <a:fillRect l="-2799" r="-1018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/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blipFill>
                <a:blip r:embed="rId4"/>
                <a:stretch>
                  <a:fillRect l="-4104" r="-33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/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При этом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blipFill>
                <a:blip r:embed="rId5"/>
                <a:stretch>
                  <a:fillRect l="-6751" r="-2532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/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blipFill>
                <a:blip r:embed="rId6"/>
                <a:stretch>
                  <a:fillRect l="-5340" r="-6311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/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Тогда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blipFill>
                <a:blip r:embed="rId7"/>
                <a:stretch>
                  <a:fillRect l="-10191" r="-2548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/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или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blipFill>
                <a:blip r:embed="rId8"/>
                <a:stretch>
                  <a:fillRect l="-593" r="-1017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/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Критерий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blipFill>
                <a:blip r:embed="rId9"/>
                <a:stretch>
                  <a:fillRect l="-6324" r="-1976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/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blipFill>
                <a:blip r:embed="rId10"/>
                <a:stretch>
                  <a:fillRect l="-2392" r="-3828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/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Оптимизационная задача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blipFill>
                <a:blip r:embed="rId11"/>
                <a:stretch>
                  <a:fillRect l="-1616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/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blipFill>
                <a:blip r:embed="rId12"/>
                <a:stretch>
                  <a:fillRect l="-3406" r="-3406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7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2910D-EF02-4DF7-8F1F-0564CA1CC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7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7DF8FE-0322-4989-A9B8-88193653C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291DD9-D748-4531-9B06-494DD5BE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5B2F31-2008-4FB9-BA97-96E568C14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</a:t>
            </a:r>
            <a:r>
              <a:rPr lang="en-US" dirty="0"/>
              <a:t> </a:t>
            </a:r>
            <a:r>
              <a:rPr lang="ru-RU" dirty="0"/>
              <a:t>Доменный слой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87CD73-3228-4CD7-A0F0-CA1196BC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3" y="1690688"/>
            <a:ext cx="10737813" cy="41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0C5D19-141B-409B-91D3-9046958EA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67" y="1895983"/>
            <a:ext cx="2910510" cy="30660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98008B-4820-42F2-A786-41FD15DF2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07" y="1895983"/>
            <a:ext cx="3500240" cy="30660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92F322-BAF5-4F3D-9E9C-293B53E40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80" y="1895983"/>
            <a:ext cx="2852124" cy="306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6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разбиения графа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A97934-0DAE-4A07-8AB9-5E946A86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331" y="2033586"/>
            <a:ext cx="2943225" cy="27908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89D867-091F-4D47-A7CE-2C01A7353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578" y="1781174"/>
            <a:ext cx="33147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графа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333A5E-971E-4F87-8898-D0DD50522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784" y="1429024"/>
            <a:ext cx="4758431" cy="506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4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разбиения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0D157-8EDB-40AA-8DC7-F6C5F271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119312"/>
            <a:ext cx="3657600" cy="261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14:cNvPr>
              <p14:cNvContentPartPr/>
              <p14:nvPr/>
            </p14:nvContentPartPr>
            <p14:xfrm>
              <a:off x="78623" y="1400082"/>
              <a:ext cx="10936440" cy="475272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23" y="1292082"/>
                <a:ext cx="11044080" cy="49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14:cNvPr>
              <p14:cNvContentPartPr/>
              <p14:nvPr/>
            </p14:nvContentPartPr>
            <p14:xfrm>
              <a:off x="3781583" y="3941322"/>
              <a:ext cx="360" cy="3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583" y="383332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14:cNvPr>
              <p14:cNvContentPartPr/>
              <p14:nvPr/>
            </p14:nvContentPartPr>
            <p14:xfrm>
              <a:off x="2992103" y="3257682"/>
              <a:ext cx="363600" cy="125964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8103" y="3150042"/>
                <a:ext cx="471240" cy="14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69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Вспомогательные сущности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8D135D-4D14-439D-A88D-42F7989AE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940" y="2033587"/>
            <a:ext cx="2524125" cy="2790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FE3555-A0F0-4CF9-AD90-A88A2C6AD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439" y="2033587"/>
            <a:ext cx="52768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6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26" name="Picture 2" descr="Md File Icon Outline Extension Icons Format Symbols Vector Illustration, Md  File, File Icon, Document Icon PNG and Vector with Transparent Background  for Free Download">
            <a:extLst>
              <a:ext uri="{FF2B5EF4-FFF2-40B4-BE49-F238E27FC236}">
                <a16:creationId xmlns:a16="http://schemas.microsoft.com/office/drawing/2014/main" id="{585D5A53-19A2-44FC-A58D-DE1028B28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01" y="2970371"/>
            <a:ext cx="1875366" cy="18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33485128-5842-490D-AE64-64BB1E80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1586606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Вопрос – Бесплатные иконки: знаки">
            <a:extLst>
              <a:ext uri="{FF2B5EF4-FFF2-40B4-BE49-F238E27FC236}">
                <a16:creationId xmlns:a16="http://schemas.microsoft.com/office/drawing/2014/main" id="{AEF07E4B-AB2C-4D75-AA9F-AA1D7602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4500569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806436" y="2650999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8000000">
            <a:off x="3784627" y="4472506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2E0CFD-3E42-47B1-8DD2-2BEA4C2475A3}"/>
              </a:ext>
            </a:extLst>
          </p:cNvPr>
          <p:cNvSpPr txBox="1"/>
          <p:nvPr/>
        </p:nvSpPr>
        <p:spPr>
          <a:xfrm>
            <a:off x="8119395" y="4706441"/>
            <a:ext cx="1601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context.md</a:t>
            </a:r>
            <a:endParaRPr lang="ru-RU" sz="1600" dirty="0"/>
          </a:p>
        </p:txBody>
      </p:sp>
      <p:pic>
        <p:nvPicPr>
          <p:cNvPr id="1038" name="Picture 14" descr="Буква I PNG">
            <a:extLst>
              <a:ext uri="{FF2B5EF4-FFF2-40B4-BE49-F238E27FC236}">
                <a16:creationId xmlns:a16="http://schemas.microsoft.com/office/drawing/2014/main" id="{CCBEB786-D1EF-4F0B-A16E-4392F3115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7" r="34427"/>
          <a:stretch/>
        </p:blipFill>
        <p:spPr bwMode="auto">
          <a:xfrm>
            <a:off x="1648590" y="1633319"/>
            <a:ext cx="457814" cy="145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2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691221" y="2676896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9800000">
            <a:off x="3689103" y="3651705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810A4B2-D0BE-4274-8DEE-62658EE4B737}"/>
              </a:ext>
            </a:extLst>
          </p:cNvPr>
          <p:cNvGrpSpPr/>
          <p:nvPr/>
        </p:nvGrpSpPr>
        <p:grpSpPr>
          <a:xfrm>
            <a:off x="2305074" y="1414097"/>
            <a:ext cx="1368516" cy="1669056"/>
            <a:chOff x="8119395" y="3415074"/>
            <a:chExt cx="1368516" cy="1669056"/>
          </a:xfrm>
        </p:grpSpPr>
        <p:pic>
          <p:nvPicPr>
            <p:cNvPr id="1026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585D5A53-19A2-44FC-A58D-DE1028B289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2E0CFD-3E42-47B1-8DD2-2BEA4C2475A3}"/>
                </a:ext>
              </a:extLst>
            </p:cNvPr>
            <p:cNvSpPr txBox="1"/>
            <p:nvPr/>
          </p:nvSpPr>
          <p:spPr>
            <a:xfrm>
              <a:off x="8119395" y="4684020"/>
              <a:ext cx="13685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context.md</a:t>
              </a:r>
              <a:endParaRPr lang="ru-RU" sz="1400" dirty="0"/>
            </a:p>
          </p:txBody>
        </p:sp>
      </p:grpSp>
      <p:pic>
        <p:nvPicPr>
          <p:cNvPr id="20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0FC1929F-64FD-4821-AC91-F759C7C3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307" y="3102095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EF9D51F-01A6-4C59-9B65-E5A94815049E}"/>
              </a:ext>
            </a:extLst>
          </p:cNvPr>
          <p:cNvGrpSpPr/>
          <p:nvPr/>
        </p:nvGrpSpPr>
        <p:grpSpPr>
          <a:xfrm>
            <a:off x="2305074" y="3101037"/>
            <a:ext cx="1368836" cy="1669056"/>
            <a:chOff x="8119395" y="3415074"/>
            <a:chExt cx="1368836" cy="1669056"/>
          </a:xfrm>
        </p:grpSpPr>
        <p:pic>
          <p:nvPicPr>
            <p:cNvPr id="22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CCE6459A-E90D-474B-A5B3-DCD7E4282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F2AEC1-AD7B-4C59-81EB-4FFFE3F391C3}"/>
                </a:ext>
              </a:extLst>
            </p:cNvPr>
            <p:cNvSpPr txBox="1"/>
            <p:nvPr/>
          </p:nvSpPr>
          <p:spPr>
            <a:xfrm>
              <a:off x="8119395" y="4684020"/>
              <a:ext cx="1368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prompt.md</a:t>
              </a:r>
              <a:endParaRPr lang="ru-RU" sz="1400" dirty="0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4B9A7CEB-05ED-4AD4-AA34-4E254E1D1D11}"/>
              </a:ext>
            </a:extLst>
          </p:cNvPr>
          <p:cNvGrpSpPr/>
          <p:nvPr/>
        </p:nvGrpSpPr>
        <p:grpSpPr>
          <a:xfrm>
            <a:off x="2305074" y="4782931"/>
            <a:ext cx="1368516" cy="1667576"/>
            <a:chOff x="8119395" y="3415074"/>
            <a:chExt cx="1368516" cy="1667576"/>
          </a:xfrm>
        </p:grpSpPr>
        <p:pic>
          <p:nvPicPr>
            <p:cNvPr id="28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A7CD2CA9-B5C9-44BE-9DFA-45F2C2DD4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0214BE-3F98-410E-9DB6-1E5FF81490EB}"/>
                </a:ext>
              </a:extLst>
            </p:cNvPr>
            <p:cNvSpPr txBox="1"/>
            <p:nvPr/>
          </p:nvSpPr>
          <p:spPr>
            <a:xfrm>
              <a:off x="8291397" y="4682540"/>
              <a:ext cx="1024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algo.md</a:t>
              </a:r>
              <a:endParaRPr lang="ru-RU" sz="1400" dirty="0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B53B2A2-138A-4F53-B467-559D84086475}"/>
              </a:ext>
            </a:extLst>
          </p:cNvPr>
          <p:cNvGrpSpPr/>
          <p:nvPr/>
        </p:nvGrpSpPr>
        <p:grpSpPr>
          <a:xfrm rot="18000000">
            <a:off x="3749428" y="4793666"/>
            <a:ext cx="1245632" cy="600457"/>
            <a:chOff x="2551423" y="2741694"/>
            <a:chExt cx="1245632" cy="600457"/>
          </a:xfrm>
        </p:grpSpPr>
        <p:sp>
          <p:nvSpPr>
            <p:cNvPr id="32" name="Стрелка: вправо 31">
              <a:extLst>
                <a:ext uri="{FF2B5EF4-FFF2-40B4-BE49-F238E27FC236}">
                  <a16:creationId xmlns:a16="http://schemas.microsoft.com/office/drawing/2014/main" id="{8B0F37FF-778C-48CE-880F-429AF7D1F878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Стрелка: вправо 32">
              <a:extLst>
                <a:ext uri="{FF2B5EF4-FFF2-40B4-BE49-F238E27FC236}">
                  <a16:creationId xmlns:a16="http://schemas.microsoft.com/office/drawing/2014/main" id="{2063044B-2332-4CFE-9E05-CCEC3FAE74E1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7380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6205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</a:t>
            </a:r>
            <a:r>
              <a:rPr lang="ru-RU" sz="2800" dirty="0" err="1"/>
              <a:t>Эрдёша-Реньи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Фишера-Йетса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клики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цепочки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прямоугольной решетки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двудольного графа</a:t>
            </a:r>
          </a:p>
        </p:txBody>
      </p:sp>
    </p:spTree>
    <p:extLst>
      <p:ext uri="{BB962C8B-B14F-4D97-AF65-F5344CB8AC3E}">
        <p14:creationId xmlns:p14="http://schemas.microsoft.com/office/powerpoint/2010/main" val="82322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</a:t>
            </a:r>
            <a:r>
              <a:rPr lang="ru-RU" dirty="0" err="1"/>
              <a:t>Эрдёша-Реньи</a:t>
            </a:r>
            <a:r>
              <a:rPr lang="ru-R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A1D8A5-C5E3-4ED3-B7EB-21A0B512B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502981" cy="4864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ErdosRenyiProbabilityGenerator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случайный граф по модели </a:t>
            </a:r>
            <a:r>
              <a:rPr lang="ru-RU" dirty="0" err="1"/>
              <a:t>Эрдёша</a:t>
            </a:r>
            <a:r>
              <a:rPr lang="ru-RU" dirty="0"/>
              <a:t>–</a:t>
            </a:r>
            <a:r>
              <a:rPr lang="ru-RU" dirty="0" err="1"/>
              <a:t>Реньи</a:t>
            </a:r>
            <a:r>
              <a:rPr lang="en-US" dirty="0"/>
              <a:t>: </a:t>
            </a:r>
            <a:r>
              <a:rPr lang="ru-RU" dirty="0"/>
              <a:t>для каждой пары</a:t>
            </a:r>
          </a:p>
          <a:p>
            <a:r>
              <a:rPr lang="ru-RU" dirty="0"/>
              <a:t>Вершин</a:t>
            </a:r>
            <a:r>
              <a:rPr lang="en-US" dirty="0"/>
              <a:t> </a:t>
            </a:r>
            <a:r>
              <a:rPr lang="ru-RU" dirty="0"/>
              <a:t>независимо с вероятностью</a:t>
            </a:r>
          </a:p>
          <a:p>
            <a:r>
              <a:rPr lang="en-US" dirty="0" err="1"/>
              <a:t>edgeProbability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4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Фишера-Йетса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FisherYatesGraphGenerator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br>
              <a:rPr lang="en-US" dirty="0"/>
            </a:br>
            <a:r>
              <a:rPr lang="ru-RU" dirty="0"/>
              <a:t>Генератор строит случайный простой неориентированный граф с </a:t>
            </a:r>
            <a:r>
              <a:rPr lang="ru-RU" b="1" dirty="0"/>
              <a:t>**фиксированным**</a:t>
            </a:r>
            <a:endParaRPr lang="ru-RU" dirty="0"/>
          </a:p>
          <a:p>
            <a:r>
              <a:rPr lang="ru-RU" dirty="0"/>
              <a:t>числом рёбер. Выборка рёбер выполняется по схеме частичной перетасовки</a:t>
            </a:r>
          </a:p>
          <a:p>
            <a:r>
              <a:rPr lang="ru-RU" dirty="0"/>
              <a:t>Фишера–</a:t>
            </a:r>
            <a:r>
              <a:rPr lang="ru-RU" dirty="0" err="1"/>
              <a:t>Йейтса</a:t>
            </a:r>
            <a:r>
              <a:rPr lang="ru-RU" dirty="0"/>
              <a:t> по списку всех возможных рёбер</a:t>
            </a:r>
            <a:br>
              <a:rPr lang="en-US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Если параметры некорректны, то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FE4700-593E-447C-A0CE-53C65C22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49226"/>
            <a:ext cx="2561948" cy="42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клики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 err="1"/>
              <a:t>CliqueGraphGenerator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полный неориентированный граф</a:t>
            </a:r>
            <a:r>
              <a:rPr lang="en-US" dirty="0"/>
              <a:t>: </a:t>
            </a:r>
            <a:r>
              <a:rPr lang="ru-RU" dirty="0"/>
              <a:t>для каждой пары вершин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794815-E67D-4680-A34D-E6095E8A0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6943"/>
            <a:ext cx="2783889" cy="46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9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цепочки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ChainGraphGenerator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граф‑цикл: все вершины соединены последовательно, дополнительно добавляется замыкающее (последняя с первой)</a:t>
            </a:r>
            <a:br>
              <a:rPr lang="en-US" dirty="0"/>
            </a:br>
            <a:r>
              <a:rPr lang="ru-RU" dirty="0"/>
              <a:t>Параметры конструктора: …</a:t>
            </a:r>
          </a:p>
          <a:p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0FFC4E-18ED-4DC8-B16B-053EE015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4887897" cy="45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4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прямоугольной решетки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ru-RU" dirty="0" err="1"/>
              <a:t>circuits.cor</a:t>
            </a:r>
            <a:r>
              <a:rPr lang="en-US" dirty="0"/>
              <a:t>e</a:t>
            </a:r>
            <a:r>
              <a:rPr lang="ru-RU" dirty="0"/>
              <a:t> класс </a:t>
            </a:r>
            <a:r>
              <a:rPr lang="ru-RU" dirty="0" err="1"/>
              <a:t>RegularGridGraphGenerator</a:t>
            </a:r>
            <a:r>
              <a:rPr lang="ru-RU" dirty="0"/>
              <a:t>, реализующий интерфейс </a:t>
            </a:r>
            <a:r>
              <a:rPr lang="ru-RU" dirty="0" err="1"/>
              <a:t>IGraphGenerator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Генератор строит прямоугольную решётку</a:t>
            </a:r>
            <a:r>
              <a:rPr lang="en-US" dirty="0"/>
              <a:t>. </a:t>
            </a:r>
            <a:r>
              <a:rPr lang="ru-RU" dirty="0"/>
              <a:t>Каждому пересечению в сетке соответствует одна вершина. Соседи по горизонтали и по вертикали</a:t>
            </a:r>
            <a:r>
              <a:rPr lang="en-US" dirty="0"/>
              <a:t> </a:t>
            </a:r>
            <a:r>
              <a:rPr lang="ru-RU" dirty="0"/>
              <a:t>соединены рёбрами, диагональных рёбер нет.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Индекс вершины в сетке считается как</a:t>
            </a:r>
          </a:p>
          <a:p>
            <a:r>
              <a:rPr lang="ru-RU" dirty="0" err="1"/>
              <a:t>rowIndex</a:t>
            </a:r>
            <a:r>
              <a:rPr lang="ru-RU" dirty="0"/>
              <a:t> * </a:t>
            </a:r>
            <a:r>
              <a:rPr lang="ru-RU" dirty="0" err="1"/>
              <a:t>colsCount</a:t>
            </a:r>
            <a:r>
              <a:rPr lang="ru-RU" dirty="0"/>
              <a:t> + </a:t>
            </a:r>
            <a:r>
              <a:rPr lang="ru-RU" dirty="0" err="1"/>
              <a:t>colIndex</a:t>
            </a:r>
            <a:r>
              <a:rPr lang="ru-RU" dirty="0"/>
              <a:t> + 1 (индексы вершин в проекте начинаются с 1).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`../context.md`.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0F5ED8-F1DB-42C3-8775-F2D0B6C0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2757256" cy="460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5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двудольного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BipartiteGraphGenerator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неориентированный двудольный граф с заданными размерами левой и правой долей и заданным числом рёбер. Рёбра идут только между долями.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Вершины с индексами 1, …, </a:t>
            </a:r>
            <a:r>
              <a:rPr lang="en-US" dirty="0" err="1"/>
              <a:t>leftPartitionSize</a:t>
            </a:r>
            <a:r>
              <a:rPr lang="en-US" dirty="0"/>
              <a:t> </a:t>
            </a:r>
            <a:r>
              <a:rPr lang="ru-RU" dirty="0"/>
              <a:t>относятся к левой доле, индексы</a:t>
            </a:r>
          </a:p>
          <a:p>
            <a:r>
              <a:rPr lang="en-US" dirty="0"/>
              <a:t>leftPartitionSize+1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…, </a:t>
            </a:r>
            <a:r>
              <a:rPr lang="en-US" dirty="0" err="1"/>
              <a:t>leftPartitionSize+rightPartitionSize</a:t>
            </a:r>
            <a:r>
              <a:rPr lang="en-US" dirty="0"/>
              <a:t> — </a:t>
            </a:r>
            <a:r>
              <a:rPr lang="ru-RU" dirty="0"/>
              <a:t>к правой.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29546E-8AC4-4C6C-A54C-ACC5CD30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677790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4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разбиения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разбиения </a:t>
            </a:r>
            <a:r>
              <a:rPr lang="ru-RU" sz="2800" dirty="0" err="1"/>
              <a:t>Кернигана</a:t>
            </a:r>
            <a:r>
              <a:rPr lang="ru-RU" sz="2800" dirty="0"/>
              <a:t>-Лина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14:cNvPr>
              <p14:cNvContentPartPr/>
              <p14:nvPr/>
            </p14:nvContentPartPr>
            <p14:xfrm>
              <a:off x="140183" y="3461802"/>
              <a:ext cx="10182600" cy="9248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83" y="3353802"/>
                <a:ext cx="10290240" cy="11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разбиения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</a:p>
          <a:p>
            <a:r>
              <a:rPr lang="en-US" dirty="0" err="1"/>
              <a:t>KernighanLinGraphPartitionGenerator</a:t>
            </a:r>
            <a:r>
              <a:rPr lang="en-US" dirty="0"/>
              <a:t>, </a:t>
            </a:r>
            <a:r>
              <a:rPr lang="ru-RU" dirty="0"/>
              <a:t>реализующий интерфейс</a:t>
            </a:r>
          </a:p>
          <a:p>
            <a:r>
              <a:rPr lang="en-US" dirty="0" err="1"/>
              <a:t>IGraphPartitionGenerator</a:t>
            </a:r>
            <a:endParaRPr lang="ru-RU" dirty="0"/>
          </a:p>
          <a:p>
            <a:r>
              <a:rPr lang="ru-RU" dirty="0"/>
              <a:t>Это упрощённый «жадный» вариант алгоритма </a:t>
            </a:r>
            <a:r>
              <a:rPr lang="ru-RU" dirty="0" err="1"/>
              <a:t>Кернигана</a:t>
            </a:r>
            <a:r>
              <a:rPr lang="ru-RU" dirty="0"/>
              <a:t>–Лина для разбиения графа на </a:t>
            </a:r>
            <a:r>
              <a:rPr lang="en-US" dirty="0"/>
              <a:t>k </a:t>
            </a:r>
            <a:r>
              <a:rPr lang="ru-RU" dirty="0"/>
              <a:t>частей с минимизацией числа</a:t>
            </a:r>
          </a:p>
          <a:p>
            <a:r>
              <a:rPr lang="ru-RU" dirty="0"/>
              <a:t>пересекающих границу рёбер.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24F7B8-C6F5-4C10-AF08-D7A75731F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4706238" cy="42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</TotalTime>
  <Words>339</Words>
  <Application>Microsoft Office PowerPoint</Application>
  <PresentationFormat>Широкоэкранный</PresentationFormat>
  <Paragraphs>90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Разбиение графа на две части методом Кернигана-Лина</vt:lpstr>
      <vt:lpstr>Математическая постановка задачи</vt:lpstr>
      <vt:lpstr>Пример</vt:lpstr>
      <vt:lpstr>Пример</vt:lpstr>
      <vt:lpstr>Пример</vt:lpstr>
      <vt:lpstr>Пример</vt:lpstr>
      <vt:lpstr>Архитектура. Доменный слой</vt:lpstr>
      <vt:lpstr>Архитектура. Сущности графа</vt:lpstr>
      <vt:lpstr>Архитектура. Сущности разбиения графа</vt:lpstr>
      <vt:lpstr>Архитектура. Генераторы графа</vt:lpstr>
      <vt:lpstr>Архитектура. Генераторы разбиения графа</vt:lpstr>
      <vt:lpstr>Архитектура. Вспомогательные сущности</vt:lpstr>
      <vt:lpstr>Использование LLM-моделей</vt:lpstr>
      <vt:lpstr>Использование LLM-моделей</vt:lpstr>
      <vt:lpstr>Генерация графа</vt:lpstr>
      <vt:lpstr>Генератор Эрдёша-Реньи </vt:lpstr>
      <vt:lpstr>Генератор Фишера-Йетса </vt:lpstr>
      <vt:lpstr>Генератор клики</vt:lpstr>
      <vt:lpstr>Генератор цепочки</vt:lpstr>
      <vt:lpstr>Генератор прямоугольной решетки</vt:lpstr>
      <vt:lpstr>Генератор двудольного графа</vt:lpstr>
      <vt:lpstr>Генерация разбиения графа</vt:lpstr>
      <vt:lpstr>Генератор разбиения Кернигана-Лина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Чернышов</dc:creator>
  <cp:lastModifiedBy>Сергей Чернышов</cp:lastModifiedBy>
  <cp:revision>22</cp:revision>
  <dcterms:created xsi:type="dcterms:W3CDTF">2026-05-12T17:00:45Z</dcterms:created>
  <dcterms:modified xsi:type="dcterms:W3CDTF">2026-05-13T06:23:19Z</dcterms:modified>
</cp:coreProperties>
</file>