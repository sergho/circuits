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87" r:id="rId3"/>
    <p:sldId id="261" r:id="rId4"/>
    <p:sldId id="257" r:id="rId5"/>
    <p:sldId id="258" r:id="rId6"/>
    <p:sldId id="259" r:id="rId7"/>
    <p:sldId id="260" r:id="rId8"/>
    <p:sldId id="269" r:id="rId9"/>
    <p:sldId id="270" r:id="rId10"/>
    <p:sldId id="268" r:id="rId11"/>
    <p:sldId id="271" r:id="rId12"/>
    <p:sldId id="272" r:id="rId13"/>
    <p:sldId id="273" r:id="rId14"/>
    <p:sldId id="274" r:id="rId15"/>
    <p:sldId id="276" r:id="rId16"/>
    <p:sldId id="275" r:id="rId17"/>
    <p:sldId id="278" r:id="rId18"/>
    <p:sldId id="279" r:id="rId19"/>
    <p:sldId id="284" r:id="rId20"/>
    <p:sldId id="262" r:id="rId21"/>
    <p:sldId id="263" r:id="rId22"/>
    <p:sldId id="264" r:id="rId23"/>
    <p:sldId id="265" r:id="rId24"/>
    <p:sldId id="266" r:id="rId25"/>
    <p:sldId id="267" r:id="rId26"/>
    <p:sldId id="280" r:id="rId27"/>
    <p:sldId id="285" r:id="rId28"/>
    <p:sldId id="281" r:id="rId29"/>
    <p:sldId id="282" r:id="rId30"/>
    <p:sldId id="286" r:id="rId31"/>
    <p:sldId id="283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79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6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DECC-1E7D-4686-83A8-B0B7860DE8E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59744-3666-4043-8B24-CECD8BFFCC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54093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DECC-1E7D-4686-83A8-B0B7860DE8E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59744-3666-4043-8B24-CECD8BFFCC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8356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DECC-1E7D-4686-83A8-B0B7860DE8E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59744-3666-4043-8B24-CECD8BFFCC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86403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DECC-1E7D-4686-83A8-B0B7860DE8E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59744-3666-4043-8B24-CECD8BFFCC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28303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DECC-1E7D-4686-83A8-B0B7860DE8E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59744-3666-4043-8B24-CECD8BFFCC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485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DECC-1E7D-4686-83A8-B0B7860DE8E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59744-3666-4043-8B24-CECD8BFFCC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9315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DECC-1E7D-4686-83A8-B0B7860DE8E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59744-3666-4043-8B24-CECD8BFFCC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3831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DECC-1E7D-4686-83A8-B0B7860DE8E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59744-3666-4043-8B24-CECD8BFFCC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78399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DECC-1E7D-4686-83A8-B0B7860DE8E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59744-3666-4043-8B24-CECD8BFFCC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7200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DECC-1E7D-4686-83A8-B0B7860DE8E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59744-3666-4043-8B24-CECD8BFFCC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4979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F7DECC-1E7D-4686-83A8-B0B7860DE8E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759744-3666-4043-8B24-CECD8BFFCC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70016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F7DECC-1E7D-4686-83A8-B0B7860DE8ED}" type="datetimeFigureOut">
              <a:rPr lang="ru-RU" smtClean="0"/>
              <a:t>20.05.2026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759744-3666-4043-8B24-CECD8BFFCCE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17109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D96E3B-2DA3-408C-BE85-1E17B05C0F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655762"/>
          </a:xfrm>
        </p:spPr>
        <p:txBody>
          <a:bodyPr>
            <a:normAutofit fontScale="90000"/>
          </a:bodyPr>
          <a:lstStyle/>
          <a:p>
            <a:r>
              <a:rPr lang="ru-RU" dirty="0"/>
              <a:t>Разбиение графа на две части методом </a:t>
            </a:r>
            <a:r>
              <a:rPr lang="ru-RU" dirty="0" err="1"/>
              <a:t>Кернигана</a:t>
            </a:r>
            <a:r>
              <a:rPr lang="ru-RU" dirty="0"/>
              <a:t>-Лина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4DA99B-38B6-46D3-BF8B-5C6C14B70578}"/>
              </a:ext>
            </a:extLst>
          </p:cNvPr>
          <p:cNvSpPr txBox="1"/>
          <p:nvPr/>
        </p:nvSpPr>
        <p:spPr>
          <a:xfrm>
            <a:off x="8930936" y="5657671"/>
            <a:ext cx="32610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Работу выполнили</a:t>
            </a:r>
            <a:r>
              <a:rPr lang="en-US" dirty="0"/>
              <a:t>:</a:t>
            </a:r>
            <a:endParaRPr lang="ru-RU" dirty="0"/>
          </a:p>
          <a:p>
            <a:r>
              <a:rPr lang="ru-RU" dirty="0"/>
              <a:t>Чернышов Сергей</a:t>
            </a:r>
          </a:p>
          <a:p>
            <a:r>
              <a:rPr lang="ru-RU" dirty="0"/>
              <a:t>Плотников Кирилл</a:t>
            </a:r>
          </a:p>
          <a:p>
            <a:r>
              <a:rPr lang="ru-RU" dirty="0"/>
              <a:t>студенты группы 3822Б1ПИмэ1</a:t>
            </a:r>
          </a:p>
        </p:txBody>
      </p:sp>
    </p:spTree>
    <p:extLst>
      <p:ext uri="{BB962C8B-B14F-4D97-AF65-F5344CB8AC3E}">
        <p14:creationId xmlns:p14="http://schemas.microsoft.com/office/powerpoint/2010/main" val="17462425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и задачи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664DB5C-72B4-4C13-B4DA-A4FF2A8F3FB3}"/>
              </a:ext>
            </a:extLst>
          </p:cNvPr>
          <p:cNvSpPr txBox="1"/>
          <p:nvPr/>
        </p:nvSpPr>
        <p:spPr>
          <a:xfrm>
            <a:off x="838200" y="1720840"/>
            <a:ext cx="1009391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Цель</a:t>
            </a:r>
            <a:r>
              <a:rPr lang="en-US" sz="2400" b="1" dirty="0"/>
              <a:t>:</a:t>
            </a:r>
            <a:r>
              <a:rPr lang="ru-RU" sz="2400" b="1" dirty="0"/>
              <a:t> </a:t>
            </a:r>
            <a:r>
              <a:rPr lang="ru-RU" sz="2400" dirty="0"/>
              <a:t>изучить классический итеративный алгоритм разбиения графа, научиться минимизировать число </a:t>
            </a:r>
            <a:r>
              <a:rPr lang="ru-RU" sz="2400" dirty="0" err="1"/>
              <a:t>межсоединений</a:t>
            </a:r>
            <a:r>
              <a:rPr lang="ru-RU" sz="2400" dirty="0"/>
              <a:t>.</a:t>
            </a:r>
          </a:p>
          <a:p>
            <a:endParaRPr lang="ru-RU" sz="2400" dirty="0"/>
          </a:p>
          <a:p>
            <a:r>
              <a:rPr lang="ru-RU" sz="2400" b="1" dirty="0"/>
              <a:t>Задачи</a:t>
            </a:r>
            <a:r>
              <a:rPr lang="en-US" sz="2400" b="1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Рассмотреть различные способы генерации неориентированного графа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Реализовать базовый алгоритм разбиения графа на две части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Реализовать продвинутый алгоритм разбиения графа на две части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Провести сравнительный анализ алгоритмов разбиения графа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Визуализировать получившиеся разбиения графа</a:t>
            </a:r>
          </a:p>
        </p:txBody>
      </p:sp>
    </p:spTree>
    <p:extLst>
      <p:ext uri="{BB962C8B-B14F-4D97-AF65-F5344CB8AC3E}">
        <p14:creationId xmlns:p14="http://schemas.microsoft.com/office/powerpoint/2010/main" val="2872649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Математическая постановка задачи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444470-3A46-452A-A998-BC7BCC3D83D8}"/>
                  </a:ext>
                </a:extLst>
              </p:cNvPr>
              <p:cNvSpPr txBox="1"/>
              <p:nvPr/>
            </p:nvSpPr>
            <p:spPr>
              <a:xfrm>
                <a:off x="838200" y="1506022"/>
                <a:ext cx="355975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−генератор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0444470-3A46-452A-A998-BC7BCC3D83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506022"/>
                <a:ext cx="3559756" cy="369332"/>
              </a:xfrm>
              <a:prstGeom prst="rect">
                <a:avLst/>
              </a:prstGeom>
              <a:blipFill>
                <a:blip r:embed="rId2"/>
                <a:stretch>
                  <a:fillRect l="-1715" r="-1715" b="-245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E75834E-10FA-4AFE-8AD7-98B860D015B6}"/>
                  </a:ext>
                </a:extLst>
              </p:cNvPr>
              <p:cNvSpPr txBox="1"/>
              <p:nvPr/>
            </p:nvSpPr>
            <p:spPr>
              <a:xfrm>
                <a:off x="838200" y="1946378"/>
                <a:ext cx="239956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d>
                      <m:r>
                        <a:rPr lang="ru-RU" sz="2400" b="0" i="1" smtClean="0">
                          <a:latin typeface="Cambria Math" panose="02040503050406030204" pitchFamily="18" charset="0"/>
                        </a:rPr>
                        <m:t>, где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CE75834E-10FA-4AFE-8AD7-98B860D0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946378"/>
                <a:ext cx="2399568" cy="369332"/>
              </a:xfrm>
              <a:prstGeom prst="rect">
                <a:avLst/>
              </a:prstGeom>
              <a:blipFill>
                <a:blip r:embed="rId3"/>
                <a:stretch>
                  <a:fillRect l="-2799" r="-1018" b="-278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5480E1E-7ACA-40A5-BE67-97B02D8B2119}"/>
                  </a:ext>
                </a:extLst>
              </p:cNvPr>
              <p:cNvSpPr txBox="1"/>
              <p:nvPr/>
            </p:nvSpPr>
            <p:spPr>
              <a:xfrm>
                <a:off x="838200" y="2386731"/>
                <a:ext cx="163711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5480E1E-7ACA-40A5-BE67-97B02D8B21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386731"/>
                <a:ext cx="1637115" cy="369332"/>
              </a:xfrm>
              <a:prstGeom prst="rect">
                <a:avLst/>
              </a:prstGeom>
              <a:blipFill>
                <a:blip r:embed="rId4"/>
                <a:stretch>
                  <a:fillRect l="-4104" r="-3358" b="-30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9BAE6A7-8844-4765-99DB-13FDD7010E14}"/>
                  </a:ext>
                </a:extLst>
              </p:cNvPr>
              <p:cNvSpPr txBox="1"/>
              <p:nvPr/>
            </p:nvSpPr>
            <p:spPr>
              <a:xfrm>
                <a:off x="857128" y="2827084"/>
                <a:ext cx="144911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b="0" i="1" smtClean="0">
                          <a:latin typeface="Cambria Math" panose="02040503050406030204" pitchFamily="18" charset="0"/>
                        </a:rPr>
                        <m:t>При этом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9BAE6A7-8844-4765-99DB-13FDD7010E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128" y="2827084"/>
                <a:ext cx="1449115" cy="369332"/>
              </a:xfrm>
              <a:prstGeom prst="rect">
                <a:avLst/>
              </a:prstGeom>
              <a:blipFill>
                <a:blip r:embed="rId5"/>
                <a:stretch>
                  <a:fillRect l="-6751" r="-2532" b="-3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07EE60D-379B-4A23-A9FE-F467752710F7}"/>
                  </a:ext>
                </a:extLst>
              </p:cNvPr>
              <p:cNvSpPr txBox="1"/>
              <p:nvPr/>
            </p:nvSpPr>
            <p:spPr>
              <a:xfrm>
                <a:off x="857128" y="3267846"/>
                <a:ext cx="125970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∩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=∅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07EE60D-379B-4A23-A9FE-F467752710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128" y="3267846"/>
                <a:ext cx="1259704" cy="369332"/>
              </a:xfrm>
              <a:prstGeom prst="rect">
                <a:avLst/>
              </a:prstGeom>
              <a:blipFill>
                <a:blip r:embed="rId6"/>
                <a:stretch>
                  <a:fillRect l="-5340" r="-6311" b="-278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95939C-8660-4120-8F22-F46A8AA3896E}"/>
                  </a:ext>
                </a:extLst>
              </p:cNvPr>
              <p:cNvSpPr txBox="1"/>
              <p:nvPr/>
            </p:nvSpPr>
            <p:spPr>
              <a:xfrm>
                <a:off x="857128" y="3708608"/>
                <a:ext cx="9569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b="0" i="1" smtClean="0">
                          <a:latin typeface="Cambria Math" panose="02040503050406030204" pitchFamily="18" charset="0"/>
                        </a:rPr>
                        <m:t>Тогда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595939C-8660-4120-8F22-F46A8AA389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128" y="3708608"/>
                <a:ext cx="956993" cy="369332"/>
              </a:xfrm>
              <a:prstGeom prst="rect">
                <a:avLst/>
              </a:prstGeom>
              <a:blipFill>
                <a:blip r:embed="rId7"/>
                <a:stretch>
                  <a:fillRect l="-10191" r="-2548" b="-262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9F2607-2740-4D73-AB76-9872B572813D}"/>
                  </a:ext>
                </a:extLst>
              </p:cNvPr>
              <p:cNvSpPr txBox="1"/>
              <p:nvPr/>
            </p:nvSpPr>
            <p:spPr>
              <a:xfrm>
                <a:off x="857128" y="4149370"/>
                <a:ext cx="719639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={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или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9F2607-2740-4D73-AB76-9872B5728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128" y="4149370"/>
                <a:ext cx="7196394" cy="369332"/>
              </a:xfrm>
              <a:prstGeom prst="rect">
                <a:avLst/>
              </a:prstGeom>
              <a:blipFill>
                <a:blip r:embed="rId8"/>
                <a:stretch>
                  <a:fillRect l="-593" r="-1017" b="-3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7CC46-6564-4444-8481-C64671CD4FFB}"/>
                  </a:ext>
                </a:extLst>
              </p:cNvPr>
              <p:cNvSpPr txBox="1"/>
              <p:nvPr/>
            </p:nvSpPr>
            <p:spPr>
              <a:xfrm>
                <a:off x="857127" y="4589723"/>
                <a:ext cx="154529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b="0" i="1" smtClean="0">
                          <a:latin typeface="Cambria Math" panose="02040503050406030204" pitchFamily="18" charset="0"/>
                        </a:rPr>
                        <m:t>Критерий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157CC46-6564-4444-8481-C64671CD4F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127" y="4589723"/>
                <a:ext cx="1545295" cy="369332"/>
              </a:xfrm>
              <a:prstGeom prst="rect">
                <a:avLst/>
              </a:prstGeom>
              <a:blipFill>
                <a:blip r:embed="rId9"/>
                <a:stretch>
                  <a:fillRect l="-6324" r="-1976" b="-350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E240037-E773-4C3B-AAD9-4671FACEEBFB}"/>
                  </a:ext>
                </a:extLst>
              </p:cNvPr>
              <p:cNvSpPr txBox="1"/>
              <p:nvPr/>
            </p:nvSpPr>
            <p:spPr>
              <a:xfrm>
                <a:off x="857127" y="5030076"/>
                <a:ext cx="2549096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=|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E240037-E773-4C3B-AAD9-4671FACEE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7127" y="5030076"/>
                <a:ext cx="2549096" cy="369332"/>
              </a:xfrm>
              <a:prstGeom prst="rect">
                <a:avLst/>
              </a:prstGeom>
              <a:blipFill>
                <a:blip r:embed="rId10"/>
                <a:stretch>
                  <a:fillRect l="-2392" r="-3828" b="-3442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2B9A78A-27B8-43BD-B994-36BDA6166699}"/>
                  </a:ext>
                </a:extLst>
              </p:cNvPr>
              <p:cNvSpPr txBox="1"/>
              <p:nvPr/>
            </p:nvSpPr>
            <p:spPr>
              <a:xfrm>
                <a:off x="838200" y="5470429"/>
                <a:ext cx="377346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400" b="0" i="1" smtClean="0">
                          <a:latin typeface="Cambria Math" panose="02040503050406030204" pitchFamily="18" charset="0"/>
                        </a:rPr>
                        <m:t>Оптимизационная задача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2B9A78A-27B8-43BD-B994-36BDA61666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470429"/>
                <a:ext cx="3773469" cy="369332"/>
              </a:xfrm>
              <a:prstGeom prst="rect">
                <a:avLst/>
              </a:prstGeom>
              <a:blipFill>
                <a:blip r:embed="rId11"/>
                <a:stretch>
                  <a:fillRect l="-1616" b="-2623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8698E44-2EC5-4B52-B4F9-6367B33B868E}"/>
                  </a:ext>
                </a:extLst>
              </p:cNvPr>
              <p:cNvSpPr txBox="1"/>
              <p:nvPr/>
            </p:nvSpPr>
            <p:spPr>
              <a:xfrm>
                <a:off x="842284" y="5910782"/>
                <a:ext cx="196977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𝑞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</m:d>
                      <m:r>
                        <a:rPr lang="ru-RU" sz="24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𝑚𝑖𝑛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8698E44-2EC5-4B52-B4F9-6367B33B86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284" y="5910782"/>
                <a:ext cx="1969770" cy="369332"/>
              </a:xfrm>
              <a:prstGeom prst="rect">
                <a:avLst/>
              </a:prstGeom>
              <a:blipFill>
                <a:blip r:embed="rId12"/>
                <a:stretch>
                  <a:fillRect l="-3406" r="-3406" b="-266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21759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FA2910D-EF02-4DF7-8F1F-0564CA1CC9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912" y="1992527"/>
            <a:ext cx="5320175" cy="437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8676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37DF8FE-0322-4989-A9B8-88193653C9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912" y="1992527"/>
            <a:ext cx="5320175" cy="437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3295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7291DD9-D748-4531-9B06-494DD5BE85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912" y="1992527"/>
            <a:ext cx="5320175" cy="437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4704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C5B2F31-2008-4FB9-BA97-96E568C146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5912" y="1992527"/>
            <a:ext cx="5320175" cy="4377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4834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</a:t>
            </a:r>
            <a:r>
              <a:rPr lang="en-US" dirty="0"/>
              <a:t>LLM-</a:t>
            </a:r>
            <a:r>
              <a:rPr lang="ru-RU" dirty="0"/>
              <a:t>моделей</a:t>
            </a:r>
          </a:p>
        </p:txBody>
      </p:sp>
      <p:pic>
        <p:nvPicPr>
          <p:cNvPr id="1026" name="Picture 2" descr="Md File Icon Outline Extension Icons Format Symbols Vector Illustration, Md  File, File Icon, Document Icon PNG and Vector with Transparent Background  for Free Download">
            <a:extLst>
              <a:ext uri="{FF2B5EF4-FFF2-40B4-BE49-F238E27FC236}">
                <a16:creationId xmlns:a16="http://schemas.microsoft.com/office/drawing/2014/main" id="{585D5A53-19A2-44FC-A58D-DE1028B289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2701" y="2970371"/>
            <a:ext cx="1875366" cy="18753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Знаки кода программирования – Бесплатные иконки: сеть">
            <a:extLst>
              <a:ext uri="{FF2B5EF4-FFF2-40B4-BE49-F238E27FC236}">
                <a16:creationId xmlns:a16="http://schemas.microsoft.com/office/drawing/2014/main" id="{33485128-5842-490D-AE64-64BB1E80A7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705" y="1586606"/>
            <a:ext cx="1541661" cy="1541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Вопрос – Бесплатные иконки: знаки">
            <a:extLst>
              <a:ext uri="{FF2B5EF4-FFF2-40B4-BE49-F238E27FC236}">
                <a16:creationId xmlns:a16="http://schemas.microsoft.com/office/drawing/2014/main" id="{AEF07E4B-AB2C-4D75-AA9F-AA1D76026E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705" y="4500569"/>
            <a:ext cx="1541661" cy="1541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Иконки, логотипы, символы Ллм — Скачать в PNG и SVG бесплатно">
            <a:extLst>
              <a:ext uri="{FF2B5EF4-FFF2-40B4-BE49-F238E27FC236}">
                <a16:creationId xmlns:a16="http://schemas.microsoft.com/office/drawing/2014/main" id="{647E097A-9669-4F0A-BF36-A3A5496D9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3006" y="2801365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10A8A3BD-CC1D-4CD9-A5FB-92F0CEE3F032}"/>
              </a:ext>
            </a:extLst>
          </p:cNvPr>
          <p:cNvGrpSpPr/>
          <p:nvPr/>
        </p:nvGrpSpPr>
        <p:grpSpPr>
          <a:xfrm>
            <a:off x="3806436" y="2650999"/>
            <a:ext cx="1245632" cy="600457"/>
            <a:chOff x="2551423" y="2741694"/>
            <a:chExt cx="1245632" cy="600457"/>
          </a:xfrm>
        </p:grpSpPr>
        <p:sp>
          <p:nvSpPr>
            <p:cNvPr id="24" name="Стрелка: вправо 23">
              <a:extLst>
                <a:ext uri="{FF2B5EF4-FFF2-40B4-BE49-F238E27FC236}">
                  <a16:creationId xmlns:a16="http://schemas.microsoft.com/office/drawing/2014/main" id="{2E62BD9D-16D8-4B63-A6E3-EC5BBF5B3BC2}"/>
                </a:ext>
              </a:extLst>
            </p:cNvPr>
            <p:cNvSpPr/>
            <p:nvPr/>
          </p:nvSpPr>
          <p:spPr>
            <a:xfrm rot="1748711">
              <a:off x="2758367" y="2741694"/>
              <a:ext cx="1038688" cy="300733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Стрелка: вправо 30">
              <a:extLst>
                <a:ext uri="{FF2B5EF4-FFF2-40B4-BE49-F238E27FC236}">
                  <a16:creationId xmlns:a16="http://schemas.microsoft.com/office/drawing/2014/main" id="{7A64D3D5-BA18-484B-8E27-BA29ACE7C2B3}"/>
                </a:ext>
              </a:extLst>
            </p:cNvPr>
            <p:cNvSpPr/>
            <p:nvPr/>
          </p:nvSpPr>
          <p:spPr>
            <a:xfrm rot="12600000">
              <a:off x="2551423" y="3041418"/>
              <a:ext cx="1038688" cy="300733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4" name="Стрелка: вправо 33">
            <a:extLst>
              <a:ext uri="{FF2B5EF4-FFF2-40B4-BE49-F238E27FC236}">
                <a16:creationId xmlns:a16="http://schemas.microsoft.com/office/drawing/2014/main" id="{A3E06B73-AEE5-4506-9EDA-E08E1BB08480}"/>
              </a:ext>
            </a:extLst>
          </p:cNvPr>
          <p:cNvSpPr/>
          <p:nvPr/>
        </p:nvSpPr>
        <p:spPr>
          <a:xfrm>
            <a:off x="6944013" y="3722560"/>
            <a:ext cx="1038688" cy="30073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A948BF36-5438-42FF-8662-CDC49FE9E50A}"/>
              </a:ext>
            </a:extLst>
          </p:cNvPr>
          <p:cNvGrpSpPr/>
          <p:nvPr/>
        </p:nvGrpSpPr>
        <p:grpSpPr>
          <a:xfrm rot="18000000">
            <a:off x="3784627" y="4472506"/>
            <a:ext cx="1245632" cy="600457"/>
            <a:chOff x="2551423" y="2741694"/>
            <a:chExt cx="1245632" cy="600457"/>
          </a:xfrm>
        </p:grpSpPr>
        <p:sp>
          <p:nvSpPr>
            <p:cNvPr id="37" name="Стрелка: вправо 36">
              <a:extLst>
                <a:ext uri="{FF2B5EF4-FFF2-40B4-BE49-F238E27FC236}">
                  <a16:creationId xmlns:a16="http://schemas.microsoft.com/office/drawing/2014/main" id="{315C6E37-C1DB-4DF6-969F-9FF47CFCDF7D}"/>
                </a:ext>
              </a:extLst>
            </p:cNvPr>
            <p:cNvSpPr/>
            <p:nvPr/>
          </p:nvSpPr>
          <p:spPr>
            <a:xfrm rot="1748711">
              <a:off x="2758367" y="2741694"/>
              <a:ext cx="1038688" cy="300733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Стрелка: вправо 37">
              <a:extLst>
                <a:ext uri="{FF2B5EF4-FFF2-40B4-BE49-F238E27FC236}">
                  <a16:creationId xmlns:a16="http://schemas.microsoft.com/office/drawing/2014/main" id="{32282AF9-5384-4781-8BBE-A7543846085F}"/>
                </a:ext>
              </a:extLst>
            </p:cNvPr>
            <p:cNvSpPr/>
            <p:nvPr/>
          </p:nvSpPr>
          <p:spPr>
            <a:xfrm rot="12600000">
              <a:off x="2551423" y="3041418"/>
              <a:ext cx="1038688" cy="300733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DFBF31E9-AA5C-4354-9B36-E1560D30B1FF}"/>
              </a:ext>
            </a:extLst>
          </p:cNvPr>
          <p:cNvSpPr txBox="1"/>
          <p:nvPr/>
        </p:nvSpPr>
        <p:spPr>
          <a:xfrm>
            <a:off x="5453581" y="4843442"/>
            <a:ext cx="8819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LLM</a:t>
            </a:r>
            <a:endParaRPr lang="ru-RU" sz="20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2E0CFD-3E42-47B1-8DD2-2BEA4C2475A3}"/>
              </a:ext>
            </a:extLst>
          </p:cNvPr>
          <p:cNvSpPr txBox="1"/>
          <p:nvPr/>
        </p:nvSpPr>
        <p:spPr>
          <a:xfrm>
            <a:off x="8119395" y="4706441"/>
            <a:ext cx="16019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context.md</a:t>
            </a:r>
            <a:endParaRPr lang="ru-RU" sz="1600" dirty="0"/>
          </a:p>
        </p:txBody>
      </p:sp>
      <p:pic>
        <p:nvPicPr>
          <p:cNvPr id="1038" name="Picture 14" descr="Буква I PNG">
            <a:extLst>
              <a:ext uri="{FF2B5EF4-FFF2-40B4-BE49-F238E27FC236}">
                <a16:creationId xmlns:a16="http://schemas.microsoft.com/office/drawing/2014/main" id="{CCBEB786-D1EF-4F0B-A16E-4392F31152B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77" r="34427"/>
          <a:stretch/>
        </p:blipFill>
        <p:spPr bwMode="auto">
          <a:xfrm>
            <a:off x="1648590" y="1633319"/>
            <a:ext cx="457814" cy="1453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9224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</a:t>
            </a:r>
            <a:r>
              <a:rPr lang="en-US" dirty="0"/>
              <a:t>LLM-</a:t>
            </a:r>
            <a:r>
              <a:rPr lang="ru-RU" dirty="0"/>
              <a:t>моделей</a:t>
            </a:r>
          </a:p>
        </p:txBody>
      </p:sp>
      <p:pic>
        <p:nvPicPr>
          <p:cNvPr id="1036" name="Picture 12" descr="Иконки, логотипы, символы Ллм — Скачать в PNG и SVG бесплатно">
            <a:extLst>
              <a:ext uri="{FF2B5EF4-FFF2-40B4-BE49-F238E27FC236}">
                <a16:creationId xmlns:a16="http://schemas.microsoft.com/office/drawing/2014/main" id="{647E097A-9669-4F0A-BF36-A3A5496D9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3006" y="2801365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10A8A3BD-CC1D-4CD9-A5FB-92F0CEE3F032}"/>
              </a:ext>
            </a:extLst>
          </p:cNvPr>
          <p:cNvGrpSpPr/>
          <p:nvPr/>
        </p:nvGrpSpPr>
        <p:grpSpPr>
          <a:xfrm>
            <a:off x="3691221" y="2676896"/>
            <a:ext cx="1245632" cy="600457"/>
            <a:chOff x="2551423" y="2741694"/>
            <a:chExt cx="1245632" cy="600457"/>
          </a:xfrm>
        </p:grpSpPr>
        <p:sp>
          <p:nvSpPr>
            <p:cNvPr id="24" name="Стрелка: вправо 23">
              <a:extLst>
                <a:ext uri="{FF2B5EF4-FFF2-40B4-BE49-F238E27FC236}">
                  <a16:creationId xmlns:a16="http://schemas.microsoft.com/office/drawing/2014/main" id="{2E62BD9D-16D8-4B63-A6E3-EC5BBF5B3BC2}"/>
                </a:ext>
              </a:extLst>
            </p:cNvPr>
            <p:cNvSpPr/>
            <p:nvPr/>
          </p:nvSpPr>
          <p:spPr>
            <a:xfrm rot="1748711">
              <a:off x="2758367" y="2741694"/>
              <a:ext cx="1038688" cy="300733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Стрелка: вправо 30">
              <a:extLst>
                <a:ext uri="{FF2B5EF4-FFF2-40B4-BE49-F238E27FC236}">
                  <a16:creationId xmlns:a16="http://schemas.microsoft.com/office/drawing/2014/main" id="{7A64D3D5-BA18-484B-8E27-BA29ACE7C2B3}"/>
                </a:ext>
              </a:extLst>
            </p:cNvPr>
            <p:cNvSpPr/>
            <p:nvPr/>
          </p:nvSpPr>
          <p:spPr>
            <a:xfrm rot="12600000">
              <a:off x="2551423" y="3041418"/>
              <a:ext cx="1038688" cy="300733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4" name="Стрелка: вправо 33">
            <a:extLst>
              <a:ext uri="{FF2B5EF4-FFF2-40B4-BE49-F238E27FC236}">
                <a16:creationId xmlns:a16="http://schemas.microsoft.com/office/drawing/2014/main" id="{A3E06B73-AEE5-4506-9EDA-E08E1BB08480}"/>
              </a:ext>
            </a:extLst>
          </p:cNvPr>
          <p:cNvSpPr/>
          <p:nvPr/>
        </p:nvSpPr>
        <p:spPr>
          <a:xfrm>
            <a:off x="6944013" y="3722560"/>
            <a:ext cx="1038688" cy="300733"/>
          </a:xfrm>
          <a:prstGeom prst="rightArrow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6" name="Группа 35">
            <a:extLst>
              <a:ext uri="{FF2B5EF4-FFF2-40B4-BE49-F238E27FC236}">
                <a16:creationId xmlns:a16="http://schemas.microsoft.com/office/drawing/2014/main" id="{A948BF36-5438-42FF-8662-CDC49FE9E50A}"/>
              </a:ext>
            </a:extLst>
          </p:cNvPr>
          <p:cNvGrpSpPr/>
          <p:nvPr/>
        </p:nvGrpSpPr>
        <p:grpSpPr>
          <a:xfrm rot="19800000">
            <a:off x="3689103" y="3651705"/>
            <a:ext cx="1245632" cy="600457"/>
            <a:chOff x="2551423" y="2741694"/>
            <a:chExt cx="1245632" cy="600457"/>
          </a:xfrm>
        </p:grpSpPr>
        <p:sp>
          <p:nvSpPr>
            <p:cNvPr id="37" name="Стрелка: вправо 36">
              <a:extLst>
                <a:ext uri="{FF2B5EF4-FFF2-40B4-BE49-F238E27FC236}">
                  <a16:creationId xmlns:a16="http://schemas.microsoft.com/office/drawing/2014/main" id="{315C6E37-C1DB-4DF6-969F-9FF47CFCDF7D}"/>
                </a:ext>
              </a:extLst>
            </p:cNvPr>
            <p:cNvSpPr/>
            <p:nvPr/>
          </p:nvSpPr>
          <p:spPr>
            <a:xfrm rot="1748711">
              <a:off x="2758367" y="2741694"/>
              <a:ext cx="1038688" cy="300733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Стрелка: вправо 37">
              <a:extLst>
                <a:ext uri="{FF2B5EF4-FFF2-40B4-BE49-F238E27FC236}">
                  <a16:creationId xmlns:a16="http://schemas.microsoft.com/office/drawing/2014/main" id="{32282AF9-5384-4781-8BBE-A7543846085F}"/>
                </a:ext>
              </a:extLst>
            </p:cNvPr>
            <p:cNvSpPr/>
            <p:nvPr/>
          </p:nvSpPr>
          <p:spPr>
            <a:xfrm rot="12600000">
              <a:off x="2551423" y="3041418"/>
              <a:ext cx="1038688" cy="300733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DFBF31E9-AA5C-4354-9B36-E1560D30B1FF}"/>
              </a:ext>
            </a:extLst>
          </p:cNvPr>
          <p:cNvSpPr txBox="1"/>
          <p:nvPr/>
        </p:nvSpPr>
        <p:spPr>
          <a:xfrm>
            <a:off x="5453581" y="4843442"/>
            <a:ext cx="8819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LLM</a:t>
            </a:r>
            <a:endParaRPr lang="ru-RU" sz="2000" dirty="0"/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B810A4B2-D0BE-4274-8DEE-62658EE4B737}"/>
              </a:ext>
            </a:extLst>
          </p:cNvPr>
          <p:cNvGrpSpPr/>
          <p:nvPr/>
        </p:nvGrpSpPr>
        <p:grpSpPr>
          <a:xfrm>
            <a:off x="2305074" y="1414097"/>
            <a:ext cx="1368516" cy="1669056"/>
            <a:chOff x="8119395" y="3415074"/>
            <a:chExt cx="1368516" cy="1669056"/>
          </a:xfrm>
        </p:grpSpPr>
        <p:pic>
          <p:nvPicPr>
            <p:cNvPr id="1026" name="Picture 2" descr="Md File Icon Outline Extension Icons Format Symbols Vector Illustration, Md  File, File Icon, Document Icon PNG and Vector with Transparent Background  for Free Download">
              <a:extLst>
                <a:ext uri="{FF2B5EF4-FFF2-40B4-BE49-F238E27FC236}">
                  <a16:creationId xmlns:a16="http://schemas.microsoft.com/office/drawing/2014/main" id="{585D5A53-19A2-44FC-A58D-DE1028B289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9395" y="3415074"/>
              <a:ext cx="1368516" cy="13685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322E0CFD-3E42-47B1-8DD2-2BEA4C2475A3}"/>
                </a:ext>
              </a:extLst>
            </p:cNvPr>
            <p:cNvSpPr txBox="1"/>
            <p:nvPr/>
          </p:nvSpPr>
          <p:spPr>
            <a:xfrm>
              <a:off x="8119395" y="4684020"/>
              <a:ext cx="136851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context.md</a:t>
              </a:r>
              <a:endParaRPr lang="ru-RU" sz="1400" dirty="0"/>
            </a:p>
          </p:txBody>
        </p:sp>
      </p:grpSp>
      <p:pic>
        <p:nvPicPr>
          <p:cNvPr id="20" name="Picture 4" descr="Знаки кода программирования – Бесплатные иконки: сеть">
            <a:extLst>
              <a:ext uri="{FF2B5EF4-FFF2-40B4-BE49-F238E27FC236}">
                <a16:creationId xmlns:a16="http://schemas.microsoft.com/office/drawing/2014/main" id="{0FC1929F-64FD-4821-AC91-F759C7C31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6307" y="3102095"/>
            <a:ext cx="1541661" cy="1541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Группа 20">
            <a:extLst>
              <a:ext uri="{FF2B5EF4-FFF2-40B4-BE49-F238E27FC236}">
                <a16:creationId xmlns:a16="http://schemas.microsoft.com/office/drawing/2014/main" id="{FEF9D51F-01A6-4C59-9B65-E5A94815049E}"/>
              </a:ext>
            </a:extLst>
          </p:cNvPr>
          <p:cNvGrpSpPr/>
          <p:nvPr/>
        </p:nvGrpSpPr>
        <p:grpSpPr>
          <a:xfrm>
            <a:off x="2305074" y="3101037"/>
            <a:ext cx="1368836" cy="1669056"/>
            <a:chOff x="8119395" y="3415074"/>
            <a:chExt cx="1368836" cy="1669056"/>
          </a:xfrm>
        </p:grpSpPr>
        <p:pic>
          <p:nvPicPr>
            <p:cNvPr id="22" name="Picture 2" descr="Md File Icon Outline Extension Icons Format Symbols Vector Illustration, Md  File, File Icon, Document Icon PNG and Vector with Transparent Background  for Free Download">
              <a:extLst>
                <a:ext uri="{FF2B5EF4-FFF2-40B4-BE49-F238E27FC236}">
                  <a16:creationId xmlns:a16="http://schemas.microsoft.com/office/drawing/2014/main" id="{CCE6459A-E90D-474B-A5B3-DCD7E42822A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9395" y="3415074"/>
              <a:ext cx="1368516" cy="13685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DF2AEC1-AD7B-4C59-81EB-4FFFE3F391C3}"/>
                </a:ext>
              </a:extLst>
            </p:cNvPr>
            <p:cNvSpPr txBox="1"/>
            <p:nvPr/>
          </p:nvSpPr>
          <p:spPr>
            <a:xfrm>
              <a:off x="8119395" y="4684020"/>
              <a:ext cx="136883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prompt.md</a:t>
              </a:r>
              <a:endParaRPr lang="ru-RU" sz="1400" dirty="0"/>
            </a:p>
          </p:txBody>
        </p:sp>
      </p:grpSp>
      <p:grpSp>
        <p:nvGrpSpPr>
          <p:cNvPr id="27" name="Группа 26">
            <a:extLst>
              <a:ext uri="{FF2B5EF4-FFF2-40B4-BE49-F238E27FC236}">
                <a16:creationId xmlns:a16="http://schemas.microsoft.com/office/drawing/2014/main" id="{4B9A7CEB-05ED-4AD4-AA34-4E254E1D1D11}"/>
              </a:ext>
            </a:extLst>
          </p:cNvPr>
          <p:cNvGrpSpPr/>
          <p:nvPr/>
        </p:nvGrpSpPr>
        <p:grpSpPr>
          <a:xfrm>
            <a:off x="2305074" y="4782931"/>
            <a:ext cx="1368516" cy="1667576"/>
            <a:chOff x="8119395" y="3415074"/>
            <a:chExt cx="1368516" cy="1667576"/>
          </a:xfrm>
        </p:grpSpPr>
        <p:pic>
          <p:nvPicPr>
            <p:cNvPr id="28" name="Picture 2" descr="Md File Icon Outline Extension Icons Format Symbols Vector Illustration, Md  File, File Icon, Document Icon PNG and Vector with Transparent Background  for Free Download">
              <a:extLst>
                <a:ext uri="{FF2B5EF4-FFF2-40B4-BE49-F238E27FC236}">
                  <a16:creationId xmlns:a16="http://schemas.microsoft.com/office/drawing/2014/main" id="{A7CD2CA9-B5C9-44BE-9DFA-45F2C2DD49A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9395" y="3415074"/>
              <a:ext cx="1368516" cy="13685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40214BE-3F98-410E-9DB6-1E5FF81490EB}"/>
                </a:ext>
              </a:extLst>
            </p:cNvPr>
            <p:cNvSpPr txBox="1"/>
            <p:nvPr/>
          </p:nvSpPr>
          <p:spPr>
            <a:xfrm>
              <a:off x="8291397" y="4682540"/>
              <a:ext cx="1024511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algo.md</a:t>
              </a:r>
              <a:endParaRPr lang="ru-RU" sz="1400" dirty="0"/>
            </a:p>
          </p:txBody>
        </p:sp>
      </p:grp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3B53B2A2-138A-4F53-B467-559D84086475}"/>
              </a:ext>
            </a:extLst>
          </p:cNvPr>
          <p:cNvGrpSpPr/>
          <p:nvPr/>
        </p:nvGrpSpPr>
        <p:grpSpPr>
          <a:xfrm rot="18000000">
            <a:off x="3749428" y="4793666"/>
            <a:ext cx="1245632" cy="600457"/>
            <a:chOff x="2551423" y="2741694"/>
            <a:chExt cx="1245632" cy="600457"/>
          </a:xfrm>
        </p:grpSpPr>
        <p:sp>
          <p:nvSpPr>
            <p:cNvPr id="32" name="Стрелка: вправо 31">
              <a:extLst>
                <a:ext uri="{FF2B5EF4-FFF2-40B4-BE49-F238E27FC236}">
                  <a16:creationId xmlns:a16="http://schemas.microsoft.com/office/drawing/2014/main" id="{8B0F37FF-778C-48CE-880F-429AF7D1F878}"/>
                </a:ext>
              </a:extLst>
            </p:cNvPr>
            <p:cNvSpPr/>
            <p:nvPr/>
          </p:nvSpPr>
          <p:spPr>
            <a:xfrm rot="1748711">
              <a:off x="2758367" y="2741694"/>
              <a:ext cx="1038688" cy="300733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3" name="Стрелка: вправо 32">
              <a:extLst>
                <a:ext uri="{FF2B5EF4-FFF2-40B4-BE49-F238E27FC236}">
                  <a16:creationId xmlns:a16="http://schemas.microsoft.com/office/drawing/2014/main" id="{2063044B-2332-4CFE-9E05-CCEC3FAE74E1}"/>
                </a:ext>
              </a:extLst>
            </p:cNvPr>
            <p:cNvSpPr/>
            <p:nvPr/>
          </p:nvSpPr>
          <p:spPr>
            <a:xfrm rot="12600000">
              <a:off x="2551423" y="3041418"/>
              <a:ext cx="1038688" cy="300733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2738055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Генерация графа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CBE639-8663-453E-BD2F-8E686FE65E3D}"/>
              </a:ext>
            </a:extLst>
          </p:cNvPr>
          <p:cNvSpPr txBox="1"/>
          <p:nvPr/>
        </p:nvSpPr>
        <p:spPr>
          <a:xfrm>
            <a:off x="838200" y="2090172"/>
            <a:ext cx="620549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Генератор </a:t>
            </a:r>
            <a:r>
              <a:rPr lang="ru-RU" sz="2800" dirty="0" err="1"/>
              <a:t>Эрдёша-Реньи</a:t>
            </a:r>
            <a:endParaRPr lang="ru-RU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Генератор Фишера-Йетса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Генератор клики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Генератор цепочки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Генератор прямоугольной решетки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Генератор двудольного графа</a:t>
            </a:r>
          </a:p>
        </p:txBody>
      </p:sp>
    </p:spTree>
    <p:extLst>
      <p:ext uri="{BB962C8B-B14F-4D97-AF65-F5344CB8AC3E}">
        <p14:creationId xmlns:p14="http://schemas.microsoft.com/office/powerpoint/2010/main" val="8232281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Генератор </a:t>
            </a:r>
            <a:r>
              <a:rPr lang="ru-RU" dirty="0" err="1"/>
              <a:t>Эрдёша-Реньи</a:t>
            </a:r>
            <a:r>
              <a:rPr lang="ru-RU" dirty="0"/>
              <a:t>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3A1D8A5-C5E3-4ED3-B7EB-21A0B512B5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28541"/>
            <a:ext cx="3502981" cy="486433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961B48B5-6179-4B35-B0A9-CF76DEF1F4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672" y="1225418"/>
            <a:ext cx="1988598" cy="2203582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00280BE-469C-4684-81EC-740FD9F05E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223" y="3640709"/>
            <a:ext cx="1988598" cy="218403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1168F9B0-BF00-4C94-8902-B3654699F5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4204" y="3640709"/>
            <a:ext cx="1988599" cy="2179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41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Генератор Фишера-Йетса 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4FE4700-593E-447C-A0CE-53C65C22B9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478181"/>
            <a:ext cx="3138996" cy="5238757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5DBA9E7-0B06-4C20-BEC2-62370B78E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472" y="1657968"/>
            <a:ext cx="3801483" cy="4212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16052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Генератор клики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6794815-E67D-4680-A34D-E6095E8A08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13895"/>
            <a:ext cx="3248313" cy="5421201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53523D-E980-4835-BBA0-0ACA01CAF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5628" y="1514014"/>
            <a:ext cx="4450362" cy="4220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1093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Генератор цепочки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60FFC4E-18ED-4DC8-B16B-053EE0158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07525"/>
            <a:ext cx="5257800" cy="485967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BCBA032-CA29-45C0-B031-6965B40A0F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6197" y="1507525"/>
            <a:ext cx="4446313" cy="4217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3642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Генератор двудольного графа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529546E-8AC4-4C6C-A54C-ACC5CD305D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193" y="1308747"/>
            <a:ext cx="4214149" cy="518412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2E545C9-BE49-4905-ADFA-8C9908996E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794" y="1429078"/>
            <a:ext cx="3745432" cy="4905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81490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Генератор прямоугольной решетки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B0F5ED8-F1DB-42C3-8775-F2D0B6C006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44358"/>
            <a:ext cx="3222595" cy="5378278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693A76A-8276-4D8B-AC3A-D340EF8C49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5783" y="2057103"/>
            <a:ext cx="5878220" cy="3656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7952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Генерация разбиения графа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CBE639-8663-453E-BD2F-8E686FE65E3D}"/>
              </a:ext>
            </a:extLst>
          </p:cNvPr>
          <p:cNvSpPr txBox="1"/>
          <p:nvPr/>
        </p:nvSpPr>
        <p:spPr>
          <a:xfrm>
            <a:off x="838200" y="2090172"/>
            <a:ext cx="740027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Генератор разбиения </a:t>
            </a:r>
            <a:r>
              <a:rPr lang="ru-RU" sz="2800" dirty="0" err="1"/>
              <a:t>Кернигана</a:t>
            </a:r>
            <a:r>
              <a:rPr lang="ru-RU" sz="2800" dirty="0"/>
              <a:t>-Лина</a:t>
            </a:r>
            <a:endParaRPr lang="en-US" sz="2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Генератор разбиения </a:t>
            </a:r>
            <a:r>
              <a:rPr lang="ru-RU" sz="2800" dirty="0" err="1"/>
              <a:t>Фиддуча</a:t>
            </a:r>
            <a:r>
              <a:rPr lang="ru-RU" sz="2800" dirty="0"/>
              <a:t>–</a:t>
            </a:r>
            <a:r>
              <a:rPr lang="ru-RU" sz="2800" dirty="0" err="1"/>
              <a:t>Мэтьюса</a:t>
            </a:r>
            <a:r>
              <a:rPr lang="ru-RU" sz="2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7376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Генератор разбиения </a:t>
            </a:r>
            <a:r>
              <a:rPr lang="ru-RU" dirty="0" err="1"/>
              <a:t>Кернигана</a:t>
            </a:r>
            <a:r>
              <a:rPr lang="ru-RU" dirty="0"/>
              <a:t>-Лина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C24F7B8-C6F5-4C10-AF08-D7A75731F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954" y="1373942"/>
            <a:ext cx="5908424" cy="537308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E8A54B7-D0BF-47CB-808D-0042453D3571}"/>
                  </a:ext>
                </a:extLst>
              </p:cNvPr>
              <p:cNvSpPr txBox="1"/>
              <p:nvPr/>
            </p:nvSpPr>
            <p:spPr>
              <a:xfrm>
                <a:off x="7134031" y="2893799"/>
                <a:ext cx="388016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𝑒𝑥𝑡𝑒𝑟𝑛𝑎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𝑒𝑥𝑡𝑒𝑟𝑛𝑎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E8A54B7-D0BF-47CB-808D-0042453D35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4031" y="2893799"/>
                <a:ext cx="3880165" cy="461665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9E1F6F7-4254-45F6-B17B-1BD3D5B09FCC}"/>
                  </a:ext>
                </a:extLst>
              </p:cNvPr>
              <p:cNvSpPr txBox="1"/>
              <p:nvPr/>
            </p:nvSpPr>
            <p:spPr>
              <a:xfrm>
                <a:off x="7247170" y="3362698"/>
                <a:ext cx="371915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𝑖𝑛𝑡𝑒𝑟𝑛𝑎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𝑖𝑛𝑡𝑒𝑟𝑛𝑎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ru-RU" sz="2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9E1F6F7-4254-45F6-B17B-1BD3D5B09FC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7170" y="3362698"/>
                <a:ext cx="3719159" cy="461665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875FC2-1D6D-4FC3-803A-364F60AFD29A}"/>
                  </a:ext>
                </a:extLst>
              </p:cNvPr>
              <p:cNvSpPr txBox="1"/>
              <p:nvPr/>
            </p:nvSpPr>
            <p:spPr>
              <a:xfrm>
                <a:off x="7033810" y="3831597"/>
                <a:ext cx="4286558" cy="9161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𝑔𝑎𝑖𝑛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r>
                                <a:rPr lang="ru-RU" sz="2400" b="0" i="1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ru-RU" sz="2400" b="0" i="1" smtClean="0">
                                  <a:latin typeface="Cambria Math" panose="02040503050406030204" pitchFamily="18" charset="0"/>
                                </a:rPr>
                                <m:t>есть ребро</m:t>
                              </m:r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 нет ребра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ru-RU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875FC2-1D6D-4FC3-803A-364F60AFD2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33810" y="3831597"/>
                <a:ext cx="4286558" cy="91614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15320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790" y="160665"/>
            <a:ext cx="10515600" cy="1325563"/>
          </a:xfrm>
        </p:spPr>
        <p:txBody>
          <a:bodyPr/>
          <a:lstStyle/>
          <a:p>
            <a:r>
              <a:rPr lang="ru-RU" dirty="0"/>
              <a:t>Генератор разбиения </a:t>
            </a:r>
            <a:br>
              <a:rPr lang="en-US" dirty="0"/>
            </a:br>
            <a:r>
              <a:rPr lang="ru-RU" dirty="0" err="1"/>
              <a:t>Фиддуча</a:t>
            </a:r>
            <a:r>
              <a:rPr lang="ru-RU" dirty="0"/>
              <a:t>–Мэтьюса </a:t>
            </a:r>
          </a:p>
        </p:txBody>
      </p:sp>
      <p:pic>
        <p:nvPicPr>
          <p:cNvPr id="8" name="Рисунок 7" descr="Изображение выглядит как диаграмма, зарисовка, рисунок, Технический чертеж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F02F3360-1862-A192-FC81-8CFA2CF3B1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1717" y="361950"/>
            <a:ext cx="2858581" cy="6134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1411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Архитектура.</a:t>
            </a:r>
            <a:r>
              <a:rPr lang="en-US" dirty="0"/>
              <a:t> </a:t>
            </a:r>
            <a:r>
              <a:rPr lang="ru-RU" dirty="0"/>
              <a:t>Доменный слой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987CD73-3228-4CD7-A0F0-CA1196BC0B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093" y="1690688"/>
            <a:ext cx="10737813" cy="418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5189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Архитектура. Сущности графа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30C5D19-141B-409B-91D3-9046958EA4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1967" y="1895983"/>
            <a:ext cx="2910510" cy="306603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A498008B-4820-42F2-A786-41FD15DF2C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4207" y="1895983"/>
            <a:ext cx="3500240" cy="306603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492F322-BAF5-4F3D-9E9C-293B53E40A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280" y="1895983"/>
            <a:ext cx="2852124" cy="3066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3697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Архитектура. Сущности разбиения графа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DA97934-0DAE-4A07-8AB9-5E946A8640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3331" y="2033586"/>
            <a:ext cx="2943225" cy="279082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889D867-091F-4D47-A7CE-2C01A73534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93578" y="1781174"/>
            <a:ext cx="3314700" cy="329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9007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Архитектура. Генераторы графа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6333A5E-971E-4F87-8898-D0DD505222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6784" y="1429024"/>
            <a:ext cx="4758431" cy="5063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28427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Архитектура. Генераторы разбиения графа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00B614D-D707-4A17-97D7-E2F0396435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6037" y="2119312"/>
            <a:ext cx="7019925" cy="2619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930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Архитектура. Вспомогательные сущности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98D135D-4D14-439D-A88D-42F7989AE7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9940" y="2033587"/>
            <a:ext cx="2524125" cy="2790825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4FE3555-A0F0-4CF9-AD90-A88A2C6ADD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9439" y="2033587"/>
            <a:ext cx="5276850" cy="2790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4627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Результаты: качество разбиения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CBE639-8663-453E-BD2F-8E686FE65E3D}"/>
              </a:ext>
            </a:extLst>
          </p:cNvPr>
          <p:cNvSpPr txBox="1"/>
          <p:nvPr/>
        </p:nvSpPr>
        <p:spPr>
          <a:xfrm>
            <a:off x="838200" y="1569472"/>
            <a:ext cx="740027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Качество разбиения — число межсоединений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5E5718-F01A-0145-009D-3022EED5428C}"/>
              </a:ext>
            </a:extLst>
          </p:cNvPr>
          <p:cNvSpPr txBox="1"/>
          <p:nvPr/>
        </p:nvSpPr>
        <p:spPr>
          <a:xfrm>
            <a:off x="469900" y="2804596"/>
            <a:ext cx="31369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Подзаголовок: Генератор </a:t>
            </a:r>
            <a:r>
              <a:rPr lang="ru-RU" dirty="0" err="1"/>
              <a:t>Эрдёша</a:t>
            </a:r>
            <a:r>
              <a:rPr lang="ru-RU" dirty="0"/>
              <a:t>–</a:t>
            </a:r>
            <a:r>
              <a:rPr lang="ru-RU" dirty="0" err="1"/>
              <a:t>Реньи</a:t>
            </a:r>
            <a:r>
              <a:rPr lang="ru-RU" dirty="0"/>
              <a:t> (p = 0.30), 3 прогона на каждый размер</a:t>
            </a:r>
          </a:p>
        </p:txBody>
      </p:sp>
      <p:pic>
        <p:nvPicPr>
          <p:cNvPr id="4" name="Рисунок 3" descr="Изображение выглядит как текст, снимок экрана, число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BC489E74-B43D-33B2-AE2F-A7B0B6D09C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49531" y="2324015"/>
            <a:ext cx="6464838" cy="40208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92984D-A009-8B89-C061-C94B138E3BF8}"/>
              </a:ext>
            </a:extLst>
          </p:cNvPr>
          <p:cNvSpPr txBox="1"/>
          <p:nvPr/>
        </p:nvSpPr>
        <p:spPr>
          <a:xfrm>
            <a:off x="4933950" y="5277060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/>
              <a:t>Вывод: FM превосходит KL по качеству разбиения на 1–12,5% на случайных графах (ER, p=0,15). Наибольшая разница при малых n: +12,5% при n=25, +7,5% при n=100; при n=600 разница сглаживается до 1,2%. Критическое преимущество — скорость: KL при n=600 работает 8 914 мс, FM — 230 мс (в 39 раз быстрее).</a:t>
            </a:r>
          </a:p>
        </p:txBody>
      </p:sp>
    </p:spTree>
    <p:extLst>
      <p:ext uri="{BB962C8B-B14F-4D97-AF65-F5344CB8AC3E}">
        <p14:creationId xmlns:p14="http://schemas.microsoft.com/office/powerpoint/2010/main" val="33966158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Результаты: качество разбиения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CBE639-8663-453E-BD2F-8E686FE65E3D}"/>
              </a:ext>
            </a:extLst>
          </p:cNvPr>
          <p:cNvSpPr txBox="1"/>
          <p:nvPr/>
        </p:nvSpPr>
        <p:spPr>
          <a:xfrm>
            <a:off x="838200" y="1569472"/>
            <a:ext cx="7400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Ранжирование генераторов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35E5718-F01A-0145-009D-3022EED5428C}"/>
              </a:ext>
            </a:extLst>
          </p:cNvPr>
          <p:cNvSpPr txBox="1"/>
          <p:nvPr/>
        </p:nvSpPr>
        <p:spPr>
          <a:xfrm>
            <a:off x="5886450" y="1383982"/>
            <a:ext cx="3136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Подзаголовок: </a:t>
            </a:r>
            <a:r>
              <a:rPr lang="en-US" dirty="0"/>
              <a:t>n =200 p = 0.</a:t>
            </a:r>
            <a:r>
              <a:rPr lang="ru-RU" dirty="0"/>
              <a:t>3</a:t>
            </a:r>
            <a:r>
              <a:rPr lang="en-US" dirty="0"/>
              <a:t> </a:t>
            </a:r>
            <a:r>
              <a:rPr lang="ru-RU" dirty="0"/>
              <a:t>3 прогона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23548E78-92F7-C089-E1CE-B86524A6A5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102168"/>
              </p:ext>
            </p:extLst>
          </p:nvPr>
        </p:nvGraphicFramePr>
        <p:xfrm>
          <a:off x="402336" y="2128386"/>
          <a:ext cx="8128000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35645074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7194855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9880004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73849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sz="1800" dirty="0"/>
                        <a:t>Генератор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KL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FM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FM </a:t>
                      </a:r>
                      <a:r>
                        <a:rPr lang="ru-RU" dirty="0"/>
                        <a:t>лучше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945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 err="1"/>
                        <a:t>Эрдёша-Реньи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1180,3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1153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+2,3%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0321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Регулярная решетка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52,3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15,0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+71,3%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67707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Двудольный граф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1192,3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1179,3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+1,1%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78082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Фишер-Йетс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1169,3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1141,0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+2,4%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70478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Цепочка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28,7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7,3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+74,4%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58138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Клика*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10000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6339181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02336" y="5029200"/>
            <a:ext cx="1143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dirty="0" err="1"/>
              <a:t>Вывод</a:t>
            </a:r>
            <a:r>
              <a:rPr sz="1000" b="0" dirty="0"/>
              <a:t>: FM </a:t>
            </a:r>
            <a:r>
              <a:rPr sz="1000" b="0" dirty="0" err="1"/>
              <a:t>превосходит</a:t>
            </a:r>
            <a:r>
              <a:rPr sz="1000" b="0" dirty="0"/>
              <a:t> KL </a:t>
            </a:r>
            <a:r>
              <a:rPr sz="1000" b="0" dirty="0" err="1"/>
              <a:t>на</a:t>
            </a:r>
            <a:r>
              <a:rPr sz="1000" b="0" dirty="0"/>
              <a:t> </a:t>
            </a:r>
            <a:r>
              <a:rPr sz="1000" b="0" dirty="0" err="1"/>
              <a:t>всех</a:t>
            </a:r>
            <a:r>
              <a:rPr sz="1000" b="0" dirty="0"/>
              <a:t> </a:t>
            </a:r>
            <a:r>
              <a:rPr sz="1000" b="0" dirty="0" err="1"/>
              <a:t>типах</a:t>
            </a:r>
            <a:r>
              <a:rPr sz="1000" b="0" dirty="0"/>
              <a:t> </a:t>
            </a:r>
            <a:r>
              <a:rPr sz="1000" b="0" dirty="0" err="1"/>
              <a:t>графов</a:t>
            </a:r>
            <a:r>
              <a:rPr sz="1000" b="0" dirty="0"/>
              <a:t> — </a:t>
            </a:r>
            <a:r>
              <a:rPr sz="1000" b="0" dirty="0" err="1"/>
              <a:t>от</a:t>
            </a:r>
            <a:r>
              <a:rPr sz="1000" b="0" dirty="0"/>
              <a:t> +1,1% (</a:t>
            </a:r>
            <a:r>
              <a:rPr sz="1000" b="0" dirty="0" err="1"/>
              <a:t>двудольный</a:t>
            </a:r>
            <a:r>
              <a:rPr sz="1000" b="0" dirty="0"/>
              <a:t>) </a:t>
            </a:r>
            <a:r>
              <a:rPr sz="1000" b="0" dirty="0" err="1"/>
              <a:t>до</a:t>
            </a:r>
            <a:r>
              <a:rPr sz="1000" b="0" dirty="0"/>
              <a:t> +74,4% (</a:t>
            </a:r>
            <a:r>
              <a:rPr sz="1000" b="0" dirty="0" err="1"/>
              <a:t>цепочка</a:t>
            </a:r>
            <a:r>
              <a:rPr sz="1000" b="0" dirty="0"/>
              <a:t>). </a:t>
            </a:r>
            <a:r>
              <a:rPr sz="1000" b="0" dirty="0" err="1"/>
              <a:t>Ранжирование</a:t>
            </a:r>
            <a:r>
              <a:rPr sz="1000" b="0" dirty="0"/>
              <a:t> </a:t>
            </a:r>
            <a:r>
              <a:rPr sz="1000" b="0" dirty="0" err="1"/>
              <a:t>по</a:t>
            </a:r>
            <a:r>
              <a:rPr sz="1000" b="0" dirty="0"/>
              <a:t> </a:t>
            </a:r>
            <a:r>
              <a:rPr sz="1000" b="0" dirty="0" err="1"/>
              <a:t>числу</a:t>
            </a:r>
            <a:r>
              <a:rPr sz="1000" b="0" dirty="0"/>
              <a:t> </a:t>
            </a:r>
            <a:r>
              <a:rPr sz="1000" b="0" dirty="0" err="1"/>
              <a:t>межсоединений</a:t>
            </a:r>
            <a:r>
              <a:rPr sz="1000" b="0" dirty="0"/>
              <a:t> FM </a:t>
            </a:r>
            <a:r>
              <a:rPr sz="1000" b="0" dirty="0" err="1"/>
              <a:t>при</a:t>
            </a:r>
            <a:r>
              <a:rPr sz="1000" b="0" dirty="0"/>
              <a:t> n=200 (</a:t>
            </a:r>
            <a:r>
              <a:rPr sz="1000" b="0" dirty="0" err="1"/>
              <a:t>от</a:t>
            </a:r>
            <a:r>
              <a:rPr sz="1000" b="0" dirty="0"/>
              <a:t> </a:t>
            </a:r>
            <a:r>
              <a:rPr sz="1000" b="0" dirty="0" err="1"/>
              <a:t>лучшего</a:t>
            </a:r>
            <a:r>
              <a:rPr sz="1000" b="0" dirty="0"/>
              <a:t> к </a:t>
            </a:r>
            <a:r>
              <a:rPr sz="1000" b="0" dirty="0" err="1"/>
              <a:t>худшему</a:t>
            </a:r>
            <a:r>
              <a:rPr sz="1000" b="0" dirty="0"/>
              <a:t>): 1) </a:t>
            </a:r>
            <a:r>
              <a:rPr sz="1000" b="0" dirty="0" err="1"/>
              <a:t>Цепочка</a:t>
            </a:r>
            <a:r>
              <a:rPr sz="1000" b="0" dirty="0"/>
              <a:t> (7,3) — </a:t>
            </a:r>
            <a:r>
              <a:rPr sz="1000" b="0" dirty="0" err="1"/>
              <a:t>структура</a:t>
            </a:r>
            <a:r>
              <a:rPr sz="1000" b="0" dirty="0"/>
              <a:t> </a:t>
            </a:r>
            <a:r>
              <a:rPr sz="1000" b="0" dirty="0" err="1"/>
              <a:t>близка</a:t>
            </a:r>
            <a:r>
              <a:rPr sz="1000" b="0" dirty="0"/>
              <a:t> к </a:t>
            </a:r>
            <a:r>
              <a:rPr sz="1000" b="0" dirty="0" err="1"/>
              <a:t>оптимально</a:t>
            </a:r>
            <a:r>
              <a:rPr sz="1000" b="0" dirty="0"/>
              <a:t> </a:t>
            </a:r>
            <a:r>
              <a:rPr sz="1000" b="0" dirty="0" err="1"/>
              <a:t>делимой</a:t>
            </a:r>
            <a:r>
              <a:rPr sz="1000" b="0" dirty="0"/>
              <a:t>; 2) </a:t>
            </a:r>
            <a:r>
              <a:rPr sz="1000" b="0" dirty="0" err="1"/>
              <a:t>Решётка</a:t>
            </a:r>
            <a:r>
              <a:rPr sz="1000" b="0" dirty="0"/>
              <a:t> (15,0) — </a:t>
            </a:r>
            <a:r>
              <a:rPr sz="1000" b="0" dirty="0" err="1"/>
              <a:t>регулярность</a:t>
            </a:r>
            <a:r>
              <a:rPr sz="1000" b="0" dirty="0"/>
              <a:t> </a:t>
            </a:r>
            <a:r>
              <a:rPr sz="1000" b="0" dirty="0" err="1"/>
              <a:t>снижает</a:t>
            </a:r>
            <a:r>
              <a:rPr sz="1000" b="0" dirty="0"/>
              <a:t> </a:t>
            </a:r>
            <a:r>
              <a:rPr sz="1000" b="0" dirty="0" err="1"/>
              <a:t>число</a:t>
            </a:r>
            <a:r>
              <a:rPr sz="1000" b="0" dirty="0"/>
              <a:t> </a:t>
            </a:r>
            <a:r>
              <a:rPr sz="1000" b="0" dirty="0" err="1"/>
              <a:t>разрезов</a:t>
            </a:r>
            <a:r>
              <a:rPr sz="1000" b="0" dirty="0"/>
              <a:t>; 3) </a:t>
            </a:r>
            <a:r>
              <a:rPr sz="1000" b="0" dirty="0" err="1"/>
              <a:t>Фишер</a:t>
            </a:r>
            <a:r>
              <a:rPr sz="1000" b="0" dirty="0"/>
              <a:t>–</a:t>
            </a:r>
            <a:r>
              <a:rPr sz="1000" b="0" dirty="0" err="1"/>
              <a:t>Йетс</a:t>
            </a:r>
            <a:r>
              <a:rPr sz="1000" b="0" dirty="0"/>
              <a:t> (1141) ≈ ER (1153) — </a:t>
            </a:r>
            <a:r>
              <a:rPr sz="1000" b="0" dirty="0" err="1"/>
              <a:t>случайные</a:t>
            </a:r>
            <a:r>
              <a:rPr sz="1000" b="0" dirty="0"/>
              <a:t> </a:t>
            </a:r>
            <a:r>
              <a:rPr sz="1000" b="0" dirty="0" err="1"/>
              <a:t>графы</a:t>
            </a:r>
            <a:r>
              <a:rPr sz="1000" b="0" dirty="0"/>
              <a:t> </a:t>
            </a:r>
            <a:r>
              <a:rPr sz="1000" b="0" dirty="0" err="1"/>
              <a:t>неразличимы</a:t>
            </a:r>
            <a:r>
              <a:rPr sz="1000" b="0" dirty="0"/>
              <a:t>; 4) </a:t>
            </a:r>
            <a:r>
              <a:rPr sz="1000" b="0" dirty="0" err="1"/>
              <a:t>Двудольный</a:t>
            </a:r>
            <a:r>
              <a:rPr sz="1000" b="0" dirty="0"/>
              <a:t> (1179) — </a:t>
            </a:r>
            <a:r>
              <a:rPr sz="1000" b="0" dirty="0" err="1"/>
              <a:t>алгоритм</a:t>
            </a:r>
            <a:r>
              <a:rPr sz="1000" b="0" dirty="0"/>
              <a:t> </a:t>
            </a:r>
            <a:r>
              <a:rPr sz="1000" b="0" dirty="0" err="1"/>
              <a:t>не</a:t>
            </a:r>
            <a:r>
              <a:rPr sz="1000" b="0" dirty="0"/>
              <a:t> </a:t>
            </a:r>
            <a:r>
              <a:rPr sz="1000" b="0" dirty="0" err="1"/>
              <a:t>эксплуатирует</a:t>
            </a:r>
            <a:r>
              <a:rPr sz="1000" b="0" dirty="0"/>
              <a:t> </a:t>
            </a:r>
            <a:r>
              <a:rPr sz="1000" b="0" dirty="0" err="1"/>
              <a:t>двудольность</a:t>
            </a:r>
            <a:r>
              <a:rPr sz="1000" b="0" dirty="0"/>
              <a:t> </a:t>
            </a:r>
            <a:r>
              <a:rPr sz="1000" b="0" dirty="0" err="1"/>
              <a:t>при</a:t>
            </a:r>
            <a:r>
              <a:rPr sz="1000" b="0" dirty="0"/>
              <a:t> </a:t>
            </a:r>
            <a:r>
              <a:rPr sz="1000" b="0" dirty="0" err="1"/>
              <a:t>высокой</a:t>
            </a:r>
            <a:r>
              <a:rPr sz="1000" b="0" dirty="0"/>
              <a:t> </a:t>
            </a:r>
            <a:r>
              <a:rPr sz="1000" b="0" dirty="0" err="1"/>
              <a:t>плотности</a:t>
            </a:r>
            <a:r>
              <a:rPr sz="1000" b="0" dirty="0"/>
              <a:t>.</a:t>
            </a:r>
            <a:r>
              <a:rPr lang="ru-RU" sz="1000" b="0" dirty="0"/>
              <a:t> *Клика – полный граф оба алгоритма дают n²/4 разрезов, но FM в 109 раз быстрее</a:t>
            </a:r>
            <a:endParaRPr sz="1000" b="0" dirty="0"/>
          </a:p>
        </p:txBody>
      </p:sp>
    </p:spTree>
    <p:extLst>
      <p:ext uri="{BB962C8B-B14F-4D97-AF65-F5344CB8AC3E}">
        <p14:creationId xmlns:p14="http://schemas.microsoft.com/office/powerpoint/2010/main" val="23262609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Результаты: структурированные графы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CBE639-8663-453E-BD2F-8E686FE65E3D}"/>
              </a:ext>
            </a:extLst>
          </p:cNvPr>
          <p:cNvSpPr txBox="1"/>
          <p:nvPr/>
        </p:nvSpPr>
        <p:spPr>
          <a:xfrm>
            <a:off x="838200" y="1569472"/>
            <a:ext cx="740027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Влияние структуры графа на качество разбиения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92984D-A009-8B89-C061-C94B138E3BF8}"/>
              </a:ext>
            </a:extLst>
          </p:cNvPr>
          <p:cNvSpPr txBox="1"/>
          <p:nvPr/>
        </p:nvSpPr>
        <p:spPr>
          <a:xfrm>
            <a:off x="2577300" y="5288528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/>
              <a:t>Вывод: Цепочечный граф — предельный случай: оптимальный разрез = 1 ребро. FM при n=200 достигает 7,3 межсоединений против 28,7 у KL (+74,4%). При n=600 разрыв сохраняется: 20,7 vs 79,3. На случайных и двудольных графах преимущество FM умеренное (1–12%). Причина: FM перемещает по одной вершине и точнее адаптируется к локальной структуре; KL застревает в локальных минимумах при обмене парами.</a:t>
            </a:r>
          </a:p>
        </p:txBody>
      </p:sp>
      <p:pic>
        <p:nvPicPr>
          <p:cNvPr id="4" name="Рисунок 3" descr="Изображение выглядит как текст, снимок экрана, число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80C582BF-1046-54C1-63A0-B51DC103E3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4200" y="2562803"/>
            <a:ext cx="4306099" cy="2330245"/>
          </a:xfrm>
          <a:prstGeom prst="rect">
            <a:avLst/>
          </a:prstGeom>
        </p:spPr>
      </p:pic>
      <p:pic>
        <p:nvPicPr>
          <p:cNvPr id="9" name="Рисунок 8" descr="Изображение выглядит как текст, снимок экрана, число, программное обеспечение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A09B86C-1127-D1FE-446E-4F41769782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5300" y="2562803"/>
            <a:ext cx="4306100" cy="233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369270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Результаты: время работы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CBE639-8663-453E-BD2F-8E686FE65E3D}"/>
              </a:ext>
            </a:extLst>
          </p:cNvPr>
          <p:cNvSpPr txBox="1"/>
          <p:nvPr/>
        </p:nvSpPr>
        <p:spPr>
          <a:xfrm>
            <a:off x="838200" y="1569472"/>
            <a:ext cx="7400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/>
              <a:t>Время работы алгоритмов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92984D-A009-8B89-C061-C94B138E3BF8}"/>
              </a:ext>
            </a:extLst>
          </p:cNvPr>
          <p:cNvSpPr txBox="1"/>
          <p:nvPr/>
        </p:nvSpPr>
        <p:spPr>
          <a:xfrm>
            <a:off x="2088350" y="5523924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/>
              <a:t>Вывод: Скорость FM кратно превосходит KL и разрыв </a:t>
            </a:r>
            <a:r>
              <a:rPr lang="ru-RU" sz="1100" dirty="0" err="1"/>
              <a:t>нарастает.Рост</a:t>
            </a:r>
            <a:r>
              <a:rPr lang="ru-RU" sz="1100" dirty="0"/>
              <a:t> времени KL квадратичный — O(n²·k); FM линейный — O((n+m)·k). При n=1000: KL — 80 213 мс (&gt;80 сек), FM — 721 мс. </a:t>
            </a:r>
          </a:p>
        </p:txBody>
      </p:sp>
      <p:pic>
        <p:nvPicPr>
          <p:cNvPr id="6" name="Рисунок 5" descr="Изображение выглядит как текст, снимок экрана, График, линия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E31F4DA-2CC8-35FD-391E-E2A6E31A8F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3350" y="1242893"/>
            <a:ext cx="4929724" cy="3879027"/>
          </a:xfrm>
          <a:prstGeom prst="rect">
            <a:avLst/>
          </a:prstGeom>
        </p:spPr>
      </p:pic>
      <p:graphicFrame>
        <p:nvGraphicFramePr>
          <p:cNvPr id="13" name="Таблица 12">
            <a:extLst>
              <a:ext uri="{FF2B5EF4-FFF2-40B4-BE49-F238E27FC236}">
                <a16:creationId xmlns:a16="http://schemas.microsoft.com/office/drawing/2014/main" id="{35708974-68F9-BAF4-AE8F-1AFA03326E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7876948"/>
              </p:ext>
            </p:extLst>
          </p:nvPr>
        </p:nvGraphicFramePr>
        <p:xfrm>
          <a:off x="914400" y="2309366"/>
          <a:ext cx="4870452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613">
                  <a:extLst>
                    <a:ext uri="{9D8B030D-6E8A-4147-A177-3AD203B41FA5}">
                      <a16:colId xmlns:a16="http://schemas.microsoft.com/office/drawing/2014/main" val="871055524"/>
                    </a:ext>
                  </a:extLst>
                </a:gridCol>
                <a:gridCol w="1217613">
                  <a:extLst>
                    <a:ext uri="{9D8B030D-6E8A-4147-A177-3AD203B41FA5}">
                      <a16:colId xmlns:a16="http://schemas.microsoft.com/office/drawing/2014/main" val="3866483070"/>
                    </a:ext>
                  </a:extLst>
                </a:gridCol>
                <a:gridCol w="1217613">
                  <a:extLst>
                    <a:ext uri="{9D8B030D-6E8A-4147-A177-3AD203B41FA5}">
                      <a16:colId xmlns:a16="http://schemas.microsoft.com/office/drawing/2014/main" val="541555970"/>
                    </a:ext>
                  </a:extLst>
                </a:gridCol>
                <a:gridCol w="1217613">
                  <a:extLst>
                    <a:ext uri="{9D8B030D-6E8A-4147-A177-3AD203B41FA5}">
                      <a16:colId xmlns:a16="http://schemas.microsoft.com/office/drawing/2014/main" val="31459955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KL (</a:t>
                      </a:r>
                      <a:r>
                        <a:rPr lang="ru-RU" dirty="0"/>
                        <a:t>мс)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FM (</a:t>
                      </a:r>
                      <a:r>
                        <a:rPr lang="ru-RU" dirty="0"/>
                        <a:t>мс)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FM </a:t>
                      </a:r>
                      <a:r>
                        <a:rPr lang="ru-RU" dirty="0"/>
                        <a:t>быстрее в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28744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1,21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0,69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1,8×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0490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8,36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11×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5712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54,17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3,18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17×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294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344,00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18,29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19×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75757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2561,89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67,26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38×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23750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600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8913,70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230,40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39×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17740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91073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Результаты: время работы</a:t>
            </a:r>
          </a:p>
        </p:txBody>
      </p:sp>
      <p:pic>
        <p:nvPicPr>
          <p:cNvPr id="7" name="Рисунок 6" descr="Изображение выглядит как текст, снимок экрана, линия, число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6E9B9045-1607-A371-84FA-EA9D884C80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00" y="1376872"/>
            <a:ext cx="7169804" cy="4495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417320"/>
            <a:ext cx="4297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/>
              <a:t>Корреляция итераций и времени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423160"/>
            <a:ext cx="429768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dirty="0"/>
              <a:t>• </a:t>
            </a:r>
            <a:r>
              <a:rPr sz="1100" b="0" dirty="0" err="1"/>
              <a:t>Формы</a:t>
            </a:r>
            <a:r>
              <a:rPr sz="1100" b="0" dirty="0"/>
              <a:t> </a:t>
            </a:r>
            <a:r>
              <a:rPr sz="1100" b="0" dirty="0" err="1"/>
              <a:t>кривых</a:t>
            </a:r>
            <a:r>
              <a:rPr sz="1100" b="0" dirty="0"/>
              <a:t> «</a:t>
            </a:r>
            <a:r>
              <a:rPr sz="1100" b="0" dirty="0" err="1"/>
              <a:t>итерации</a:t>
            </a:r>
            <a:r>
              <a:rPr sz="1100" b="0" dirty="0"/>
              <a:t>» и «</a:t>
            </a:r>
            <a:r>
              <a:rPr sz="1100" b="0" dirty="0" err="1"/>
              <a:t>время</a:t>
            </a:r>
            <a:r>
              <a:rPr sz="1100" b="0" dirty="0"/>
              <a:t>» </a:t>
            </a:r>
            <a:r>
              <a:rPr sz="1100" b="0" dirty="0" err="1"/>
              <a:t>совпадают</a:t>
            </a:r>
            <a:r>
              <a:rPr sz="1100" b="0" dirty="0"/>
              <a:t> — </a:t>
            </a:r>
            <a:r>
              <a:rPr sz="1100" b="0" dirty="0" err="1"/>
              <a:t>корреляция</a:t>
            </a:r>
            <a:r>
              <a:rPr sz="1100" b="0" dirty="0"/>
              <a:t> </a:t>
            </a:r>
            <a:r>
              <a:rPr sz="1100" b="0" dirty="0" err="1"/>
              <a:t>прямая</a:t>
            </a:r>
            <a:r>
              <a:rPr sz="1100" b="0" dirty="0"/>
              <a:t>.
• </a:t>
            </a:r>
            <a:r>
              <a:rPr sz="1100" b="0" dirty="0" err="1"/>
              <a:t>При</a:t>
            </a:r>
            <a:r>
              <a:rPr sz="1100" b="0" dirty="0"/>
              <a:t> n=1000: KL — 906 </a:t>
            </a:r>
            <a:r>
              <a:rPr sz="1100" b="0" dirty="0" err="1"/>
              <a:t>ходов</a:t>
            </a:r>
            <a:r>
              <a:rPr sz="1100" b="0" dirty="0"/>
              <a:t>, 80 213 </a:t>
            </a:r>
            <a:r>
              <a:rPr sz="1100" b="0" dirty="0" err="1"/>
              <a:t>мс</a:t>
            </a:r>
            <a:r>
              <a:rPr sz="1100" b="0" dirty="0"/>
              <a:t>; FM — 896 </a:t>
            </a:r>
            <a:r>
              <a:rPr sz="1100" b="0" dirty="0" err="1"/>
              <a:t>ходов</a:t>
            </a:r>
            <a:r>
              <a:rPr sz="1100" b="0" dirty="0"/>
              <a:t>, 721 </a:t>
            </a:r>
            <a:r>
              <a:rPr sz="1100" b="0" dirty="0" err="1"/>
              <a:t>мс</a:t>
            </a:r>
            <a:r>
              <a:rPr sz="1100" b="0" dirty="0"/>
              <a:t>. </a:t>
            </a:r>
            <a:r>
              <a:rPr sz="1100" b="0" dirty="0" err="1"/>
              <a:t>Число</a:t>
            </a:r>
            <a:r>
              <a:rPr sz="1100" b="0" dirty="0"/>
              <a:t> </a:t>
            </a:r>
            <a:r>
              <a:rPr sz="1100" b="0" dirty="0" err="1"/>
              <a:t>ходов</a:t>
            </a:r>
            <a:r>
              <a:rPr sz="1100" b="0" dirty="0"/>
              <a:t> </a:t>
            </a:r>
            <a:r>
              <a:rPr sz="1100" b="0" dirty="0" err="1"/>
              <a:t>почти</a:t>
            </a:r>
            <a:r>
              <a:rPr sz="1100" b="0" dirty="0"/>
              <a:t> </a:t>
            </a:r>
            <a:r>
              <a:rPr sz="1100" b="0" dirty="0" err="1"/>
              <a:t>одинаково</a:t>
            </a:r>
            <a:r>
              <a:rPr sz="1100" b="0" dirty="0"/>
              <a:t>, </a:t>
            </a:r>
            <a:r>
              <a:rPr sz="1100" b="0" dirty="0" err="1"/>
              <a:t>но</a:t>
            </a:r>
            <a:r>
              <a:rPr sz="1100" b="0" dirty="0"/>
              <a:t> </a:t>
            </a:r>
            <a:r>
              <a:rPr sz="1100" b="0" dirty="0" err="1"/>
              <a:t>каждый</a:t>
            </a:r>
            <a:r>
              <a:rPr sz="1100" b="0" dirty="0"/>
              <a:t> </a:t>
            </a:r>
            <a:r>
              <a:rPr sz="1100" b="0" dirty="0" err="1"/>
              <a:t>ход</a:t>
            </a:r>
            <a:r>
              <a:rPr sz="1100" b="0" dirty="0"/>
              <a:t> KL </a:t>
            </a:r>
            <a:r>
              <a:rPr sz="1100" b="0" dirty="0" err="1"/>
              <a:t>дороже</a:t>
            </a:r>
            <a:r>
              <a:rPr sz="1100" b="0" dirty="0"/>
              <a:t>.
• KL </a:t>
            </a:r>
            <a:r>
              <a:rPr sz="1100" b="0" dirty="0" err="1"/>
              <a:t>пересчитывает</a:t>
            </a:r>
            <a:r>
              <a:rPr sz="1100" b="0" dirty="0"/>
              <a:t> gain </a:t>
            </a:r>
            <a:r>
              <a:rPr sz="1100" b="0" dirty="0" err="1"/>
              <a:t>для</a:t>
            </a:r>
            <a:r>
              <a:rPr sz="1100" b="0" dirty="0"/>
              <a:t> </a:t>
            </a:r>
            <a:r>
              <a:rPr sz="1100" b="0" dirty="0" err="1"/>
              <a:t>всех</a:t>
            </a:r>
            <a:r>
              <a:rPr sz="1100" b="0" dirty="0"/>
              <a:t> </a:t>
            </a:r>
            <a:r>
              <a:rPr sz="1100" b="0" dirty="0" err="1"/>
              <a:t>пар</a:t>
            </a:r>
            <a:r>
              <a:rPr sz="1100" b="0" dirty="0"/>
              <a:t> O(n²); FM — </a:t>
            </a:r>
            <a:r>
              <a:rPr sz="1100" b="0" dirty="0" err="1"/>
              <a:t>только</a:t>
            </a:r>
            <a:r>
              <a:rPr sz="1100" b="0" dirty="0"/>
              <a:t> </a:t>
            </a:r>
            <a:r>
              <a:rPr sz="1100" b="0" dirty="0" err="1"/>
              <a:t>для</a:t>
            </a:r>
            <a:r>
              <a:rPr sz="1100" b="0" dirty="0"/>
              <a:t> </a:t>
            </a:r>
            <a:r>
              <a:rPr sz="1100" b="0" dirty="0" err="1"/>
              <a:t>соседей</a:t>
            </a:r>
            <a:r>
              <a:rPr sz="1100" b="0" dirty="0"/>
              <a:t> </a:t>
            </a:r>
            <a:r>
              <a:rPr sz="1100" b="0" dirty="0" err="1"/>
              <a:t>перемещённой</a:t>
            </a:r>
            <a:r>
              <a:rPr sz="1100" b="0" dirty="0"/>
              <a:t> </a:t>
            </a:r>
            <a:r>
              <a:rPr sz="1100" b="0" dirty="0" err="1"/>
              <a:t>вершины</a:t>
            </a:r>
            <a:r>
              <a:rPr sz="1100" b="0" dirty="0"/>
              <a:t> O(deg).
• </a:t>
            </a:r>
            <a:r>
              <a:rPr sz="1100" b="0" dirty="0" err="1"/>
              <a:t>Разрыв</a:t>
            </a:r>
            <a:r>
              <a:rPr sz="1100" b="0" dirty="0"/>
              <a:t> </a:t>
            </a:r>
            <a:r>
              <a:rPr sz="1100" b="0" dirty="0" err="1"/>
              <a:t>во</a:t>
            </a:r>
            <a:r>
              <a:rPr sz="1100" b="0" dirty="0"/>
              <a:t> </a:t>
            </a:r>
            <a:r>
              <a:rPr sz="1100" b="0" dirty="0" err="1"/>
              <a:t>времени</a:t>
            </a:r>
            <a:r>
              <a:rPr sz="1100" b="0" dirty="0"/>
              <a:t> </a:t>
            </a:r>
            <a:r>
              <a:rPr sz="1100" b="0" dirty="0" err="1"/>
              <a:t>растёт</a:t>
            </a:r>
            <a:r>
              <a:rPr sz="1100" b="0" dirty="0"/>
              <a:t> с n: </a:t>
            </a:r>
            <a:r>
              <a:rPr sz="1100" b="0" dirty="0" err="1"/>
              <a:t>при</a:t>
            </a:r>
            <a:r>
              <a:rPr sz="1100" b="0" dirty="0"/>
              <a:t> n=50 — 11×, </a:t>
            </a:r>
            <a:r>
              <a:rPr sz="1100" b="0" dirty="0" err="1"/>
              <a:t>при</a:t>
            </a:r>
            <a:r>
              <a:rPr sz="1100" b="0" dirty="0"/>
              <a:t> n=1000 — 111×.
• </a:t>
            </a:r>
            <a:r>
              <a:rPr sz="1100" b="0" dirty="0" err="1"/>
              <a:t>Вывод</a:t>
            </a:r>
            <a:r>
              <a:rPr sz="1100" b="0" dirty="0"/>
              <a:t>: </a:t>
            </a:r>
            <a:r>
              <a:rPr sz="1100" b="0" dirty="0" err="1"/>
              <a:t>итерационная</a:t>
            </a:r>
            <a:r>
              <a:rPr sz="1100" b="0" dirty="0"/>
              <a:t> </a:t>
            </a:r>
            <a:r>
              <a:rPr sz="1100" b="0" dirty="0" err="1"/>
              <a:t>сложность</a:t>
            </a:r>
            <a:r>
              <a:rPr sz="1100" b="0" dirty="0"/>
              <a:t> </a:t>
            </a:r>
            <a:r>
              <a:rPr sz="1100" b="0" dirty="0" err="1"/>
              <a:t>алгоритмов</a:t>
            </a:r>
            <a:r>
              <a:rPr sz="1100" b="0" dirty="0"/>
              <a:t> </a:t>
            </a:r>
            <a:r>
              <a:rPr sz="1100" b="0" dirty="0" err="1"/>
              <a:t>одинакова</a:t>
            </a:r>
            <a:r>
              <a:rPr sz="1100" b="0" dirty="0"/>
              <a:t>, </a:t>
            </a:r>
            <a:r>
              <a:rPr sz="1100" b="0" dirty="0" err="1"/>
              <a:t>но</a:t>
            </a:r>
            <a:r>
              <a:rPr sz="1100" b="0" dirty="0"/>
              <a:t> FM </a:t>
            </a:r>
            <a:r>
              <a:rPr sz="1100" b="0" dirty="0" err="1"/>
              <a:t>побеждает</a:t>
            </a:r>
            <a:r>
              <a:rPr sz="1100" b="0" dirty="0"/>
              <a:t> </a:t>
            </a:r>
            <a:r>
              <a:rPr sz="1100" b="0" dirty="0" err="1"/>
              <a:t>за</a:t>
            </a:r>
            <a:r>
              <a:rPr sz="1100" b="0" dirty="0"/>
              <a:t> </a:t>
            </a:r>
            <a:r>
              <a:rPr sz="1100" b="0" dirty="0" err="1"/>
              <a:t>счёт</a:t>
            </a:r>
            <a:r>
              <a:rPr sz="1100" b="0" dirty="0"/>
              <a:t> </a:t>
            </a:r>
            <a:r>
              <a:rPr sz="1100" b="0" dirty="0" err="1"/>
              <a:t>дешевизны</a:t>
            </a:r>
            <a:r>
              <a:rPr sz="1100" b="0" dirty="0"/>
              <a:t> </a:t>
            </a:r>
            <a:r>
              <a:rPr sz="1100" b="0" dirty="0" err="1"/>
              <a:t>одного</a:t>
            </a:r>
            <a:r>
              <a:rPr sz="1100" b="0" dirty="0"/>
              <a:t> </a:t>
            </a:r>
            <a:r>
              <a:rPr sz="1100" b="0" dirty="0" err="1"/>
              <a:t>хода</a:t>
            </a:r>
            <a:r>
              <a:rPr sz="1100" b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468528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296C98-0578-4804-9E10-A21CEA912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9CBE639-8663-453E-BD2F-8E686FE65E3D}"/>
              </a:ext>
            </a:extLst>
          </p:cNvPr>
          <p:cNvSpPr txBox="1"/>
          <p:nvPr/>
        </p:nvSpPr>
        <p:spPr>
          <a:xfrm>
            <a:off x="488950" y="1570984"/>
            <a:ext cx="36131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/>
              <a:t>Керниган</a:t>
            </a:r>
            <a:r>
              <a:rPr lang="ru-RU" sz="2000" dirty="0"/>
              <a:t>–Лин (базовый)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356029-682B-B82D-77AA-74FE15FC76B7}"/>
              </a:ext>
            </a:extLst>
          </p:cNvPr>
          <p:cNvSpPr txBox="1"/>
          <p:nvPr/>
        </p:nvSpPr>
        <p:spPr>
          <a:xfrm>
            <a:off x="370414" y="1902470"/>
            <a:ext cx="381867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/>
              <a:t> - Сложность: O(n² · k), где k — число итераций</a:t>
            </a:r>
          </a:p>
          <a:p>
            <a:r>
              <a:rPr lang="ru-RU" sz="1200" dirty="0"/>
              <a:t>  - Хранит кеш выигрышей для всех пар вершин → квадратичная память</a:t>
            </a:r>
          </a:p>
          <a:p>
            <a:r>
              <a:rPr lang="ru-RU" sz="1200" dirty="0"/>
              <a:t>  - При n=600 работает ~9 секунд — неприемлемо для больших графов</a:t>
            </a:r>
          </a:p>
          <a:p>
            <a:r>
              <a:rPr lang="ru-RU" sz="1200" dirty="0"/>
              <a:t>  - Практичен только до n ≈ 200–300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6CB60C-3166-6F5C-CCBD-DE4B30584C07}"/>
              </a:ext>
            </a:extLst>
          </p:cNvPr>
          <p:cNvSpPr txBox="1"/>
          <p:nvPr/>
        </p:nvSpPr>
        <p:spPr>
          <a:xfrm>
            <a:off x="7112000" y="1570984"/>
            <a:ext cx="4140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/>
              <a:t>Фиддуча</a:t>
            </a:r>
            <a:r>
              <a:rPr lang="ru-RU" sz="2000" dirty="0"/>
              <a:t>–Мэтьюс (эвристический)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4FAC84-392A-C623-9E31-78F0060FEB11}"/>
              </a:ext>
            </a:extLst>
          </p:cNvPr>
          <p:cNvSpPr txBox="1"/>
          <p:nvPr/>
        </p:nvSpPr>
        <p:spPr>
          <a:xfrm>
            <a:off x="7112000" y="1902470"/>
            <a:ext cx="381867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/>
              <a:t> - Сложность: O((n + m) · k) за счёт пересчёта только соседей
  - При n=600 — 230 мс (в 39× быстрее KL); при n=1000 — 721 мс (в 111× быстрее)
  - На случайных графах: качество почти одинаково (разница 1–12%)
  - На структурированных графах (цепочка): FM лучше на 70–74%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534699-25DA-06D5-7896-5D41D60DA9BD}"/>
              </a:ext>
            </a:extLst>
          </p:cNvPr>
          <p:cNvSpPr txBox="1"/>
          <p:nvPr/>
        </p:nvSpPr>
        <p:spPr>
          <a:xfrm>
            <a:off x="4489450" y="3429397"/>
            <a:ext cx="4140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Общие выводы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8D59EB-CE52-9E0D-FF96-5FA10A124570}"/>
              </a:ext>
            </a:extLst>
          </p:cNvPr>
          <p:cNvSpPr txBox="1"/>
          <p:nvPr/>
        </p:nvSpPr>
        <p:spPr>
          <a:xfrm>
            <a:off x="3371850" y="4183221"/>
            <a:ext cx="3818675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/>
              <a:t> - Оба алгоритма находят разбиение с равными частями и минимизируют межсоединения</a:t>
            </a:r>
          </a:p>
          <a:p>
            <a:r>
              <a:rPr lang="ru-RU" sz="1200" dirty="0"/>
              <a:t>  - FM является предпочтительным выбором во всех случаях: быстрее и не хуже по качеству</a:t>
            </a:r>
          </a:p>
          <a:p>
            <a:r>
              <a:rPr lang="ru-RU" sz="1200" dirty="0"/>
              <a:t>  - Визуализация подтверждает корректность разбиения для n ≤ 100</a:t>
            </a:r>
          </a:p>
          <a:p>
            <a:r>
              <a:rPr lang="ru-RU" sz="1200" dirty="0"/>
              <a:t>  - Для целевого масштаба (10⁵ вершин, 5×10⁵ рёбер) необходимы многоуровневые методы</a:t>
            </a:r>
          </a:p>
        </p:txBody>
      </p:sp>
    </p:spTree>
    <p:extLst>
      <p:ext uri="{BB962C8B-B14F-4D97-AF65-F5344CB8AC3E}">
        <p14:creationId xmlns:p14="http://schemas.microsoft.com/office/powerpoint/2010/main" val="1075870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933</TotalTime>
  <Words>880</Words>
  <Application>Microsoft Office PowerPoint</Application>
  <PresentationFormat>Широкоэкранный</PresentationFormat>
  <Paragraphs>151</Paragraphs>
  <Slides>31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6" baseType="lpstr">
      <vt:lpstr>Arial</vt:lpstr>
      <vt:lpstr>Calibri</vt:lpstr>
      <vt:lpstr>Calibri Light</vt:lpstr>
      <vt:lpstr>Cambria Math</vt:lpstr>
      <vt:lpstr>Office Theme</vt:lpstr>
      <vt:lpstr>Разбиение графа на две части методом Кернигана-Лина</vt:lpstr>
      <vt:lpstr>Цели и задачи</vt:lpstr>
      <vt:lpstr>Математическая постановка задачи</vt:lpstr>
      <vt:lpstr>Пример</vt:lpstr>
      <vt:lpstr>Пример</vt:lpstr>
      <vt:lpstr>Пример</vt:lpstr>
      <vt:lpstr>Пример</vt:lpstr>
      <vt:lpstr>Использование LLM-моделей</vt:lpstr>
      <vt:lpstr>Использование LLM-моделей</vt:lpstr>
      <vt:lpstr>Генерация графа</vt:lpstr>
      <vt:lpstr>Генератор Эрдёша-Реньи </vt:lpstr>
      <vt:lpstr>Генератор Фишера-Йетса </vt:lpstr>
      <vt:lpstr>Генератор клики</vt:lpstr>
      <vt:lpstr>Генератор цепочки</vt:lpstr>
      <vt:lpstr>Генератор двудольного графа</vt:lpstr>
      <vt:lpstr>Генератор прямоугольной решетки</vt:lpstr>
      <vt:lpstr>Генерация разбиения графа</vt:lpstr>
      <vt:lpstr>Генератор разбиения Кернигана-Лина</vt:lpstr>
      <vt:lpstr>Генератор разбиения  Фиддуча–Мэтьюса </vt:lpstr>
      <vt:lpstr>Архитектура. Доменный слой</vt:lpstr>
      <vt:lpstr>Архитектура. Сущности графа</vt:lpstr>
      <vt:lpstr>Архитектура. Сущности разбиения графа</vt:lpstr>
      <vt:lpstr>Архитектура. Генераторы графа</vt:lpstr>
      <vt:lpstr>Архитектура. Генераторы разбиения графа</vt:lpstr>
      <vt:lpstr>Архитектура. Вспомогательные сущности</vt:lpstr>
      <vt:lpstr>Результаты: качество разбиения</vt:lpstr>
      <vt:lpstr>Результаты: качество разбиения</vt:lpstr>
      <vt:lpstr>Результаты: структурированные графы</vt:lpstr>
      <vt:lpstr>Результаты: время работы</vt:lpstr>
      <vt:lpstr>Результаты: время работы</vt:lpstr>
      <vt:lpstr>Выводы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Сергей Чернышов</dc:creator>
  <cp:lastModifiedBy>Сергей Чернышов</cp:lastModifiedBy>
  <cp:revision>46</cp:revision>
  <dcterms:created xsi:type="dcterms:W3CDTF">2026-05-12T17:00:45Z</dcterms:created>
  <dcterms:modified xsi:type="dcterms:W3CDTF">2026-05-20T18:00:25Z</dcterms:modified>
</cp:coreProperties>
</file>