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68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4" r:id="rId25"/>
    <p:sldId id="280" r:id="rId26"/>
    <p:sldId id="285" r:id="rId27"/>
    <p:sldId id="281" r:id="rId28"/>
    <p:sldId id="282" r:id="rId29"/>
    <p:sldId id="286" r:id="rId30"/>
    <p:sldId id="283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17:41:00.0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2592 426,'628'186,"-389"-116,745 195,-642-205,-247-45,142 23,732 116,1709 271,-1573-250,-281-43,-271-43,-22 1,-119-1,-181-37,425 108,-548-129,-1 4,-2 5,43 25,-24-10,3-6,9-3,47 15,57 32,21 8,-72-29,-4 7,61 41,159 102,-91-35,-21-4,-217-128,-2 4,16 19,-25-21,345 317,-279-241,110 147,116 155,-300-364,21 24,-61-80,0 0,2-1,-1-1,2-1,10 4,49 34,-36-19,14 10,-2 2,37 40,-84-75,-1 1,0 1,0-1,-1 1,-1 0,1 1,-2-1,0 1,0 0,2 9,3 20,-2 1,1 16,-2-10,0 5,-1 1,-3-1,-3 1,-1-1,-3 0,-2 1,-3-2,-1 1,-3-2,-2 0,-2 0,-3-2,-1 0,-25 37,3-18,-2-2,-4-2,-2-2,-2-2,-3-3,-3-2,-2-4,-2-1,-2-4,-43 21,68-44,-2-2,0-2,-1-2,-32 6,-185 35,106-26,-28 3,-1-8,-179 1,-379-23,384-7,27-7,2-14,-26-17,-645-127,-32-21,-345-65,790 147,-567-117,-163-37,881 188,-242-80,589 129,-181-49,-63-36,318 104,1-1,-1 0,1-1,0-1,1-1,0 0,0 0,0-2,9 7,1 1,-1-1,1 1,0-1,1 0,-1 0,1 0,-1-1,1 1,1-1,-1 1,1-1,-1 1,1-1,0 0,1 0,-1 0,1 1,0-1,1 0,-1 0,1 0,-1 0,2 1,-1-1,0 0,1 1,0-2,6-10,0 0,1 1,1 0,0 0,1 1,1 1,0-1,0 2,2 0,5-4,34-25,2 3,9-2,-39 24,81-46,2 4,19-2,229-89,-235 100,269-93,6 18,61 3,259-44,642-58,-1037 192,7 14,325 7,80-4,-1-21,1006-28,421 8,-156 33,-1308 24,2002-2,-2329 7,113 27,-223-3,-3 11,69 27,-297-62,0 1,-1 1,0 1,-1 1,0 1,0 2,-2 0,0 2,3 3,-23-17,-1 0,1 0,-1 1,0-1,1 1,-1-1,0 1,-1 0,1 0,-1 0,1 0,-1 0,0 0,0 0,0 0,0 1,-1-1,1 3,-1 0,0-1,-1 0,0 1,0-1,0 0,-1 1,1-1,-1 0,0 0,-1 0,0 0,-10 16,0-1,-2-1,0 0,-1-1,-1-1,4-4,-43 47,-2-3,-3-2,-44 29,-119 74,-201 105,-560 225,701-353,-32 7,-7-15,-317 80,77-70,-22-21,401-82,-1704 268,1756-283,-2111 214,1144-183,-143 10,345 27,-12 41,367-46,-929 162,999-157,-140 30,267-50,-85 19,193-23,3 10,-4 13,180-65,19-7,1 1,-25 15,62-30,0 0,0 0,1 1,-1-1,0 0,1 0,-1 1,0-1,1 0,-1 1,1-1,-1 1,1-1,-1 1,1-1,-1 1,1-1,-1 1,1-1,-1 1,1 0,0-1,-1 1,1-1,0 1,0 0,0 0,-1-1,1 1,0 0,0-1,0 1,0 0,0-1,0 1,0 0,0 0,1-1,-1 2,2-1,0 1,-1 0,1-1,0 0,0 1,1-1,-1 0,0 0,0 0,1 0,-1 0,1 0,72 14,20-6,0-4,49-5,193-21,451-81,-2-42,-271 46,1829-386,-1061 196,-36 8,784-241,-1448 356,1068-309,506-173,-293 23,-355 65,53-55,-1227 468,180-74,-327 149,155-35,-19 25,246-68,-561 146,257-69,-211 61,0 2,1 3,51 0,-66 6,-20-1,0 1,0 1,0 0,0 2,-1 0,-13-1,0 0,0 1,0 0,-1 0,1 0,-1 0,0 1,0 0,0 1,0-1,-1 1,0 0,0 1,0-1,0 1,1 2,20 35,-2 0,-1 1,-2 1,-3 1,-1 1,-3 1,3 17,15 96,5 93,-28-178,12 172,-11 2,-14 78,2-75,-4-88,-7 0,-8-1,-6-1,-27 76,-52 140,-57 105,-240 509,292-766,-9-5,-72 89,-312 398,389-561,-6-6,-7-5,-5-5,-6-7,-5-6,-129 80,46-52,-6-11,-120 46,146-95,-4-9,-3-9,-3-10,-44 0,-170 24,-3-19,-3-18,-53-18,-2046-6,1110-74,-2-44,-697-102,18-130,1148 121,-17-49,-188-120,1141 367,-559-214,11-27,362 148,5-10,-79-63,193 113,2-4,4-4,2-4,4-3,3-4,-13-25,61 71,3-1,1-2,1 0,2-1,2-1,-2-13,11 29,2 0,1 0,1-1,1 0,0 0,3 0,0 0,1 0,1 0,2 0,4-19,1 15,2 1,0 0,2 0,2 1,0 1,2 0,0 1,17-18,27-29,4 2,14-8,96-84,157-110,215-112,-117 117,12 20,11 19,268-86,96 22,14 43,332-47,-615 187,84 14,-280 53,826-113,299-55,-803 144,141 26,-704 38,1326-48,538-22,5 70,-927 6,-578-3,524-3,-683-11,22-16,308-51,-479 57,506-58,230-32,-378 18,-511 93,73-12,0 4,52 0,-614 9,-698 4,-15 59,624-25,-3977 251,2358-131,1716-121,-945 48,-440-79,1067-8,-438-10,-7 0,-6308 14,7269-3,0-12,1-12,-7-13,-1387-185,1596 217,-296-37,260 27,0-5,-46-19,120 32,2-1,-1-2,-8-5,28 13,0-1,0 0,0 0,1 0,0-1,0 0,0 0,1-1,0 0,0 0,1-1,-4-6,8 12,0-1,0 0,1 1,-1-1,1 0,-1 1,1-1,0 0,0 0,0 1,1-1,-1 0,1 0,-1 1,1-1,0 0,0 1,0-1,0 1,0-1,1 1,-1 0,1-1,0 1,-1 0,1 0,0 0,0 0,2 0,9-10,1 1,0 1,1 0,8-3,4-4,123-89,-47 30,36-14,448-218,-303 165,13-1,309-102,-192 108,118-11,542-89,8 36,-806 152,1859-286,965-3,-2608 298,307-31,-485 26,164-52,-280 54,101-11,93 2,307-9,-378 36,764-24,3 52,-424 3,6821-5,-7440 5,-44-5,-1 0,0 0,1 0,-1 0,0 0,1 1,-1-1,1 0,-1 0,0 0,1 0,-1 1,0-1,1 0,-1 0,0 1,0-1,1 0,-1 1,0-1,0 0,1 1,-1-1,0 0,0 1,0-1,0 0,0 1,1-1,-1 1,0-1,0 0,0 1,-1 0,0 1,0-1,0 0,0 0,0 0,0 0,0 0,-1 0,1 0,0 0,-1 0,1-1,0 1,-1 0,0-1,-64 27,-1-3,0-4,-2-2,-47 5,58-11,-697 117,-5-33,44-6,-695 37,1401-126,-1162 45,301-34,-284 1,-325 24,105 0,-2363-35,1766-5,-9413 3,12144-24,-219-24,1298-103,-341 85,-985 50,261-13,745-25,834-7,-182 27,-1648 28,2968-1,-1980 10,334-55,-530 1,0 51,-537 4,3306-4,-3427 15,227 50,-675-41,-2 8,-1 10,-2 9,60 29,-200-57,-2 2,-1 2,-2 4,0 1,43 35,-82-52,0 0,-1 1,-1 1,-1 1,0 1,-1 0,-1 1,-1 0,0 1,-2 1,-1-1,0 2,-2 0,0 0,-2 0,0 1,-2 0,-1 0,-1 0,0 0,-3 18,0-5,-3 0,0 0,-3 0,-1-1,-2 0,-1-1,-1 0,-3 1,-15 26,-1-2,-4-1,-39 52,-20 20,-6-4,-61 56,4-29,-176 132,-204 100,-25-23,-17-24,110-98,-10-20,-9-21,-48-9,-826 226,-16-60,-339 0,26-121,-13-83,1487-135,-2902 203,2488-195,-203 14,417-6,3 18,-11 21,-621 119,752-139,3 12,-182 70,110-9,-289 147,508-204,2 6,5 6,2 6,-30 32,114-77,2 1,1 3,3 2,-30 42,60-68,1 1,1 1,1 0,1 1,1 0,1 1,2 0,0 0,2 1,1-1,1 1,1 0,1 0,2 0,2 16,-1-30,1 0,0 0,0-1,1 0,1 1,0-2,1 1,0 0,1-1,0 0,1-1,0 0,0 0,1-1,1 1,-1-2,1 0,1 0,6 3,16 10,1-1,1-1,1-3,1-1,33 10,90 18,1-6,1-7,2-8,50-3,666-6,-547-16,1005-67,-462 13,448 7,-85 5,1962-110,-547 67,-334 81,-1300 10,451 16,-654-15,-92-2,-156 27,-476-23,-41-4,0 3,-1 1,1 3,22 8,-64-13,1 0,-1 1,-1 0,1 1,-1 0,0 0,0 1,0 0,-1 1,-1 0,1 0,-1 1,6 8,-10-13,-1 0,1 0,-1 1,1-1,-1 0,-1 1,1-1,-1 1,1 0,-1 0,0-1,-1 1,1 0,-1 0,0 0,-1 0,1-1,-1 1,0 0,0 0,0-1,-1 1,1 0,-1-1,0 0,0 1,-1-1,0 0,1 0,-1 0,-1-1,1 1,-28 24,-1-2,-1-1,-1-2,-23 12,-16 11,-12 6,-3-3,-37 13,-189 71,-80 5,-83 3,223-67,-113 23,-164 14,-379 33,677-109,-1015 99,-5-62,680-43,-716 7,916-30,-2270 1,1167-47,505 9,-1814 4,2016 25,-660 5,1140 8,-93 23,-283 59,69 24,466-81,2 6,2 5,-10 12,45-21,42-16,2 2,0 3,2 1,-3 5,19-14,22-16,-1 1,1 0,0 1,1-1,-1 2,1-1,0 1,0 0,1 0,-1 0,2 1,-1-1,-2 7,6-12,1 1,0 0,0-1,0 1,0 0,0 0,0-1,0 1,0 0,1-1,-1 1,1 0,-1-1,1 1,0-1,-1 1,1-1,0 1,0-1,0 0,0 1,0-1,1 0,-1 0,0 0,1 0,-1 0,0 0,1 0,-1 0,1 0,0 0,60 22,-49-19,254 74,2-12,116 8,556 51,-298-73,77-28,962-18,-926-8,8209 2,-8365 15,-2 27,163 49,-504-57,37 5,92 33,-316-56,35 8,48 20,-123-34,-1 1,1 2,-2 1,0 1,-1 2,-1 0,7 7,-27-19,-1 0,1 0,-1 0,0 1,0-1,-1 1,0 0,0 1,0-1,-1 1,0-1,0 1,0 0,-1 0,1 5,-3-6,1-1,-1 1,0 0,-1-1,0 1,0-1,0 1,0-1,-1 1,0-1,0 0,0 0,-1 0,1 0,-1 0,-1 0,1-1,-1 0,1 1,-1-1,0-1,-33 32,-1-2,-2-2,0-1,-22 10,-56 28,-8-3,-3-7,-4-6,-91 21,-109 18,-78 0,143-34,-52 13,-286 24,-781-19,-4-70,799-7,-965-70,-1992-292,2757 300,240 23,133-11,-89-37,372 64,-282-39,-2 18,-23 18,-847 6,-2376 26,2791-44,8-50,316 17,-26-31,542 98,18 3,0 0,0-1,0-1,1 0,-16-8,32 13,-1 0,1 0,0 0,-1 0,1-1,-1 1,1 0,0 0,-1 0,1-1,0 1,-1 0,1-1,0 1,0 0,-1 0,1-1,0 1,0-1,-1 1,1 0,0-1,0 1,0 0,0-1,0 1,0-1,0 1,0-1,0 1,0 0,0-1,0 1,0-1,0 1,0 0,13-11,30-1,-39 11,41-7,0 2,1 2,0 3,0 1,5 3,34-2,1754 0,-1554 11,149 29,47 5,509 35,-394-28,108 7,450 34,-956-80,721 31,-334-33,17 0,6494-13,-5808-37,31 0,1070 40,-2347 0,0 2,0 2,17 6,70 9,-68-13,30 10,-33-6,35 2,-71-12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17:41:03.6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17:41:09.3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1009 1,'-3'40,"-2"0,-2 0,-2 0,-2-1,-1 0,-9 18,-56 144,-67 196,94-219,-27 85,-71 231,-8 30,98-285,-37 130,16-73,60-224,-16 77,32-128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6:18:12.4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2964 0,'144'8,"0"5,66 18,-165-24,471 80,1013 114,-1100-164,1355 95,-1732-129,1628 47,-1171-38,-54 0,102 2,-212-2,-29-3,394 6,-595-16,549 16,-117-4,-370-12,-175 1,29 2,-31-2,0 0,1 0,-1 0,0 0,1 1,-1-1,1 0,-1 0,0 0,1 0,-1 0,0 1,1-1,-1 0,0 0,0 1,1-1,-1 0,0 0,0 1,1-1,-1 0,0 1,0-1,0 0,1 1,-1-1,0 0,0 1,0-1,0 1,0-1,0 0,0 1,0-1,0 1,0-1,0 0,0 1,0-1,0 0,0 1,0-1,-1 0,1 1,0-1,0 0,0 1,-1-1,1 0,0 1,0-1,-1 0,1 1,0-1,0 0,-1 0,1 0,0 1,-1-1,1 0,0 0,-1 0,1 0,0 0,-1 1,1-1,-1 0,1 0,0 0,-17 10,0 0,-1-1,0-1,0-1,-1 0,0-2,-13 3,-13 5,-198 56,-93 7,28-20,-243 9,240-40,-1054 55,794-68,-352 2,98-16,-683 4,61 39,1342-38,-831 62,776-52,-1025 101,524-48,-584 70,1019-110,-42 7,-146 42,280-54,854-24,217-6,1038-8,-1250 20,-307-3,1996-16,-1242 7,402-11,353-10,-1509 28,714-41,-522 12,2021 5,-1731 29,-496-4,346-50,368-109,-1084 155,899-88,-873 89,600-51,-429 29,-503 28,-443 12,212 3,-38 3,-4219 101,-7643-122,11792 27,138-2,417-23,45-1,37-1,246-4,13-14,141-6,239 22,-347 5,656 0,1652-4,-1883-10,189 0,230-1,94 0,4757 14,-4418-76,-1234 49,69-5,225-53,-450 56,-107 16,0-3,0-6,-188 16,-1590-9,-195-22,-2 36,788 2,-10425-2,11340 1,0 7,-153 29,293-27,29-3,21 0,27-2,1-2,-1-2,40-3,2-1,528-31,-300 10,3280-66,-3454 90,2598-15,338 3,-1882 14,5302-2,-6472 3,-37 3,-39 6,-151 23,-228 33,-1282 42,-5-98,614-10,346 9,-321 3,-6656-15,6434 35,811 9,-196 53,602-82,-244 45,255-41,2 2,0 4,-26 14,88-34,1 0,0 1,0 0,0 1,1 0,-6 5,13-10,0-1,0 1,1 0,-1 0,0-1,1 1,-1 0,1 0,-1 0,1 0,-1 0,1-1,0 1,-1 0,1 0,0 0,0 0,0 0,0 0,0 0,0 0,0 0,0 0,0 0,0 0,0 1,2 0,-1-1,1 1,-1 0,1-1,0 1,0-1,0 0,0 1,0-1,0 0,0 0,0 0,0 0,0-1,0 1,0-1,3 1,105 22,2-5,0-4,51-4,-9 2,-98-8,746 61,-472-43,1074 59,408-70,-1084-14,7051 3,-6895-30,-7-36,-650 47,695-67,-397 34,356-12,-521 60,-276 5,-206-1,-823 23,-859 44,672-38,-2879 50,-114-80,2273 70,778 57,1007-117,-214 41,43-7,236-43,0 0,0 0,0 0,0 0,0 1,1-1,-1 1,0-1,0 1,0-1,1 1,-1 0,0 0,1 0,-2 1,22 5,49 1,794-6,-426-4,7033 2,-4764-70,-2453 58,1361-71,-3-68,916-143,-618 175,-1579 103,-2-15,57-24,27-25,176-31,622-136,-758 119,-385 108,-4 6,-87 16,-1 0,1-2,-15-2,-23 0,-143 2,-454 6,-35 31,-980 174,1238-149,-4184 470,2810-400,1023-68,-321 17,258-64,90-2,-2508 37,3237-52,-726 5,5 38,-281 79,-660 177,817-112,841-181,26-5,-1 0,1 1,0 1,0 0,0 0,-9 4,57 5,71 2,1-5,1-5,8-5,153 6,445 16,-284-12,1358 3,-229-5,1842 10,-2152-20,377-35,-962 10,519-30,1119-163,-29-77,-1501 222,-738 73,407-45,426-104,-317 30,-176 23,-375 98,0 1,0 0,0-1,0 1,0-1,-1 1,1-1,0 0,0 0,-1 1,1-1,0-1,-1 1,1 0,-1 0,1-1,-1 1,0 0,-1 0,0 0,0 1,-1-1,1 0,0 1,-1-1,1 1,0-1,-1 1,1-1,-1 1,1-1,-1 1,1-1,-1 1,1-1,-1 1,1 0,-1-1,0 1,1 0,-1 0,0-1,1 1,-1 0,0 0,1 0,-2 0,-64-11,-64 3,-370-10,-3370 19,2949 11,14 1,-653 3,918-7,-659 40,-94 1,-563-52,-169 2,906 25,936-14,0 12,-20 16,-24 22,-98 41,321-75,-294 86,391-109,0-1,1 1,-1 0,1 1,-8 5,15-10,0 1,0 0,0-1,1 1,-1 0,0 0,0 0,1 0,-1 0,0 0,1 0,-1 0,1 0,-1 0,1 0,0 0,-1 0,1 0,0 0,0 0,0 1,0-1,0 0,1 1,0-1,-1 0,1 0,0 1,0-1,0 0,-1 0,1 0,0 0,0 0,1 0,-1 0,0-1,0 1,0 0,1 0,-1-1,0 1,1-1,-1 1,27 9,-1-2,1 0,1-2,-1-1,20 0,33 7,227 33,147-4,-170-18,1486 69,6-81,-1611-11,909 13,-45 0,8351-14,-8972-11,330-54,398-106,-1048 158,679-134,-577 115,-104 20,-1-3,70-24,-248 34,-75-2,25 0,-116 10,82 15,-130 31,-170 55,71-14,143-44,-2-13,-22-9,124-18,116-5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409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8356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640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2830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4858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315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831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83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200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4979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700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1710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customXml" Target="../ink/ink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D96E3B-2DA3-408C-BE85-1E17B05C0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Разбиение графа на две части методом </a:t>
            </a:r>
            <a:r>
              <a:rPr lang="ru-RU" dirty="0" err="1"/>
              <a:t>Кернигана</a:t>
            </a:r>
            <a:r>
              <a:rPr lang="ru-RU" dirty="0"/>
              <a:t>-Лина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4DA99B-38B6-46D3-BF8B-5C6C14B70578}"/>
              </a:ext>
            </a:extLst>
          </p:cNvPr>
          <p:cNvSpPr txBox="1"/>
          <p:nvPr/>
        </p:nvSpPr>
        <p:spPr>
          <a:xfrm>
            <a:off x="8930936" y="5657671"/>
            <a:ext cx="3261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Работу выполнили</a:t>
            </a:r>
            <a:r>
              <a:rPr lang="en-US" dirty="0"/>
              <a:t>:</a:t>
            </a:r>
            <a:endParaRPr lang="ru-RU" dirty="0"/>
          </a:p>
          <a:p>
            <a:r>
              <a:rPr lang="ru-RU" dirty="0"/>
              <a:t>Чернышов Сергей</a:t>
            </a:r>
          </a:p>
          <a:p>
            <a:r>
              <a:rPr lang="ru-RU" dirty="0"/>
              <a:t>Плотников Кирилл</a:t>
            </a:r>
          </a:p>
          <a:p>
            <a:r>
              <a:rPr lang="ru-RU" dirty="0"/>
              <a:t>студенты группы 3822Б1ПИмэ1</a:t>
            </a:r>
          </a:p>
        </p:txBody>
      </p:sp>
    </p:spTree>
    <p:extLst>
      <p:ext uri="{BB962C8B-B14F-4D97-AF65-F5344CB8AC3E}">
        <p14:creationId xmlns:p14="http://schemas.microsoft.com/office/powerpoint/2010/main" val="1746242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Математическая постановка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444470-3A46-452A-A998-BC7BCC3D83D8}"/>
                  </a:ext>
                </a:extLst>
              </p:cNvPr>
              <p:cNvSpPr txBox="1"/>
              <p:nvPr/>
            </p:nvSpPr>
            <p:spPr>
              <a:xfrm>
                <a:off x="838200" y="1506022"/>
                <a:ext cx="35597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−генератор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444470-3A46-452A-A998-BC7BCC3D8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06022"/>
                <a:ext cx="3559756" cy="369332"/>
              </a:xfrm>
              <a:prstGeom prst="rect">
                <a:avLst/>
              </a:prstGeom>
              <a:blipFill>
                <a:blip r:embed="rId2"/>
                <a:stretch>
                  <a:fillRect l="-1715" r="-1715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75834E-10FA-4AFE-8AD7-98B860D015B6}"/>
                  </a:ext>
                </a:extLst>
              </p:cNvPr>
              <p:cNvSpPr txBox="1"/>
              <p:nvPr/>
            </p:nvSpPr>
            <p:spPr>
              <a:xfrm>
                <a:off x="838200" y="1946378"/>
                <a:ext cx="23995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, где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75834E-10FA-4AFE-8AD7-98B860D01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46378"/>
                <a:ext cx="2399568" cy="369332"/>
              </a:xfrm>
              <a:prstGeom prst="rect">
                <a:avLst/>
              </a:prstGeom>
              <a:blipFill>
                <a:blip r:embed="rId3"/>
                <a:stretch>
                  <a:fillRect l="-2799" r="-1018" b="-278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480E1E-7ACA-40A5-BE67-97B02D8B2119}"/>
                  </a:ext>
                </a:extLst>
              </p:cNvPr>
              <p:cNvSpPr txBox="1"/>
              <p:nvPr/>
            </p:nvSpPr>
            <p:spPr>
              <a:xfrm>
                <a:off x="838200" y="2386731"/>
                <a:ext cx="16371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480E1E-7ACA-40A5-BE67-97B02D8B2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86731"/>
                <a:ext cx="1637115" cy="369332"/>
              </a:xfrm>
              <a:prstGeom prst="rect">
                <a:avLst/>
              </a:prstGeom>
              <a:blipFill>
                <a:blip r:embed="rId4"/>
                <a:stretch>
                  <a:fillRect l="-4104" r="-3358" b="-3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9BAE6A7-8844-4765-99DB-13FDD7010E14}"/>
                  </a:ext>
                </a:extLst>
              </p:cNvPr>
              <p:cNvSpPr txBox="1"/>
              <p:nvPr/>
            </p:nvSpPr>
            <p:spPr>
              <a:xfrm>
                <a:off x="857128" y="2827084"/>
                <a:ext cx="14491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При этом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9BAE6A7-8844-4765-99DB-13FDD7010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28" y="2827084"/>
                <a:ext cx="1449115" cy="369332"/>
              </a:xfrm>
              <a:prstGeom prst="rect">
                <a:avLst/>
              </a:prstGeom>
              <a:blipFill>
                <a:blip r:embed="rId5"/>
                <a:stretch>
                  <a:fillRect l="-6751" r="-2532" b="-3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7EE60D-379B-4A23-A9FE-F467752710F7}"/>
                  </a:ext>
                </a:extLst>
              </p:cNvPr>
              <p:cNvSpPr txBox="1"/>
              <p:nvPr/>
            </p:nvSpPr>
            <p:spPr>
              <a:xfrm>
                <a:off x="857128" y="3267846"/>
                <a:ext cx="12597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=∅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7EE60D-379B-4A23-A9FE-F46775271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28" y="3267846"/>
                <a:ext cx="1259704" cy="369332"/>
              </a:xfrm>
              <a:prstGeom prst="rect">
                <a:avLst/>
              </a:prstGeom>
              <a:blipFill>
                <a:blip r:embed="rId6"/>
                <a:stretch>
                  <a:fillRect l="-5340" r="-6311" b="-278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95939C-8660-4120-8F22-F46A8AA3896E}"/>
                  </a:ext>
                </a:extLst>
              </p:cNvPr>
              <p:cNvSpPr txBox="1"/>
              <p:nvPr/>
            </p:nvSpPr>
            <p:spPr>
              <a:xfrm>
                <a:off x="857128" y="3708608"/>
                <a:ext cx="9569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Тогда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95939C-8660-4120-8F22-F46A8AA38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28" y="3708608"/>
                <a:ext cx="956993" cy="369332"/>
              </a:xfrm>
              <a:prstGeom prst="rect">
                <a:avLst/>
              </a:prstGeom>
              <a:blipFill>
                <a:blip r:embed="rId7"/>
                <a:stretch>
                  <a:fillRect l="-10191" r="-2548" b="-262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9F2607-2740-4D73-AB76-9872B572813D}"/>
                  </a:ext>
                </a:extLst>
              </p:cNvPr>
              <p:cNvSpPr txBox="1"/>
              <p:nvPr/>
            </p:nvSpPr>
            <p:spPr>
              <a:xfrm>
                <a:off x="857128" y="4149370"/>
                <a:ext cx="71963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или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9F2607-2740-4D73-AB76-9872B5728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28" y="4149370"/>
                <a:ext cx="7196394" cy="369332"/>
              </a:xfrm>
              <a:prstGeom prst="rect">
                <a:avLst/>
              </a:prstGeom>
              <a:blipFill>
                <a:blip r:embed="rId8"/>
                <a:stretch>
                  <a:fillRect l="-593" r="-1017" b="-3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57CC46-6564-4444-8481-C64671CD4FFB}"/>
                  </a:ext>
                </a:extLst>
              </p:cNvPr>
              <p:cNvSpPr txBox="1"/>
              <p:nvPr/>
            </p:nvSpPr>
            <p:spPr>
              <a:xfrm>
                <a:off x="857127" y="4589723"/>
                <a:ext cx="154529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Критерий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57CC46-6564-4444-8481-C64671CD4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27" y="4589723"/>
                <a:ext cx="1545295" cy="369332"/>
              </a:xfrm>
              <a:prstGeom prst="rect">
                <a:avLst/>
              </a:prstGeom>
              <a:blipFill>
                <a:blip r:embed="rId9"/>
                <a:stretch>
                  <a:fillRect l="-6324" r="-1976" b="-3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240037-E773-4C3B-AAD9-4671FACEEBFB}"/>
                  </a:ext>
                </a:extLst>
              </p:cNvPr>
              <p:cNvSpPr txBox="1"/>
              <p:nvPr/>
            </p:nvSpPr>
            <p:spPr>
              <a:xfrm>
                <a:off x="857127" y="5030076"/>
                <a:ext cx="25490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)|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240037-E773-4C3B-AAD9-4671FACEE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27" y="5030076"/>
                <a:ext cx="2549096" cy="369332"/>
              </a:xfrm>
              <a:prstGeom prst="rect">
                <a:avLst/>
              </a:prstGeom>
              <a:blipFill>
                <a:blip r:embed="rId10"/>
                <a:stretch>
                  <a:fillRect l="-2392" r="-3828" b="-344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2B9A78A-27B8-43BD-B994-36BDA6166699}"/>
                  </a:ext>
                </a:extLst>
              </p:cNvPr>
              <p:cNvSpPr txBox="1"/>
              <p:nvPr/>
            </p:nvSpPr>
            <p:spPr>
              <a:xfrm>
                <a:off x="838200" y="5470429"/>
                <a:ext cx="37734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Оптимизационная задача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2B9A78A-27B8-43BD-B994-36BDA6166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70429"/>
                <a:ext cx="3773469" cy="369332"/>
              </a:xfrm>
              <a:prstGeom prst="rect">
                <a:avLst/>
              </a:prstGeom>
              <a:blipFill>
                <a:blip r:embed="rId11"/>
                <a:stretch>
                  <a:fillRect l="-1616" b="-262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698E44-2EC5-4B52-B4F9-6367B33B868E}"/>
                  </a:ext>
                </a:extLst>
              </p:cNvPr>
              <p:cNvSpPr txBox="1"/>
              <p:nvPr/>
            </p:nvSpPr>
            <p:spPr>
              <a:xfrm>
                <a:off x="842284" y="5910782"/>
                <a:ext cx="19697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698E44-2EC5-4B52-B4F9-6367B33B8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84" y="5910782"/>
                <a:ext cx="1969770" cy="369332"/>
              </a:xfrm>
              <a:prstGeom prst="rect">
                <a:avLst/>
              </a:prstGeom>
              <a:blipFill>
                <a:blip r:embed="rId12"/>
                <a:stretch>
                  <a:fillRect l="-3406" r="-3406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2175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A2910D-EF02-4DF7-8F1F-0564CA1CC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912" y="1992527"/>
            <a:ext cx="5320175" cy="437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76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7DF8FE-0322-4989-A9B8-88193653C9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912" y="1992527"/>
            <a:ext cx="5320175" cy="437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295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291DD9-D748-4531-9B06-494DD5BE8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912" y="1992527"/>
            <a:ext cx="5320175" cy="437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04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C5B2F31-2008-4FB9-BA97-96E568C14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912" y="1992527"/>
            <a:ext cx="5320175" cy="437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34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Архитектура.</a:t>
            </a:r>
            <a:r>
              <a:rPr lang="en-US" dirty="0"/>
              <a:t> </a:t>
            </a:r>
            <a:r>
              <a:rPr lang="ru-RU" dirty="0"/>
              <a:t>Доменный слой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87CD73-3228-4CD7-A0F0-CA1196BC0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93" y="1690688"/>
            <a:ext cx="10737813" cy="418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518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Архитектура. Сущности графа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0C5D19-141B-409B-91D3-9046958EA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67" y="1895983"/>
            <a:ext cx="2910510" cy="306603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498008B-4820-42F2-A786-41FD15DF2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207" y="1895983"/>
            <a:ext cx="3500240" cy="306603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492F322-BAF5-4F3D-9E9C-293B53E40A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280" y="1895983"/>
            <a:ext cx="2852124" cy="306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369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Архитектура. Сущности разбиения графа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DA97934-0DAE-4A07-8AB9-5E946A864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331" y="2033586"/>
            <a:ext cx="2943225" cy="279082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889D867-091F-4D47-A7CE-2C01A7353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578" y="1781174"/>
            <a:ext cx="331470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900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Архитектура. Генераторы графа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333A5E-971E-4F87-8898-D0DD50522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784" y="1429024"/>
            <a:ext cx="4758431" cy="506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42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Архитектура. Генераторы разбиения графа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70D157-8EDB-40AA-8DC7-F6C5F2717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119312"/>
            <a:ext cx="3657600" cy="26193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F862E1AC-0255-4608-9E90-ED4B62A7E100}"/>
                  </a:ext>
                </a:extLst>
              </p14:cNvPr>
              <p14:cNvContentPartPr/>
              <p14:nvPr/>
            </p14:nvContentPartPr>
            <p14:xfrm>
              <a:off x="78623" y="1400082"/>
              <a:ext cx="10936440" cy="475272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F862E1AC-0255-4608-9E90-ED4B62A7E1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623" y="1292082"/>
                <a:ext cx="11044080" cy="49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3A938DA4-F389-46BE-9C94-1D5ED15F1BDA}"/>
                  </a:ext>
                </a:extLst>
              </p14:cNvPr>
              <p14:cNvContentPartPr/>
              <p14:nvPr/>
            </p14:nvContentPartPr>
            <p14:xfrm>
              <a:off x="3781583" y="3941322"/>
              <a:ext cx="360" cy="36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3A938DA4-F389-46BE-9C94-1D5ED15F1BD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27583" y="383332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A2C13846-9CAB-454E-9739-DF28E9DEC363}"/>
                  </a:ext>
                </a:extLst>
              </p14:cNvPr>
              <p14:cNvContentPartPr/>
              <p14:nvPr/>
            </p14:nvContentPartPr>
            <p14:xfrm>
              <a:off x="2992103" y="3257682"/>
              <a:ext cx="363600" cy="1259640"/>
            </p14:xfrm>
          </p:contentPart>
        </mc:Choice>
        <mc:Fallback xmlns=""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A2C13846-9CAB-454E-9739-DF28E9DEC36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38103" y="3150042"/>
                <a:ext cx="471240" cy="147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693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Архитектура. Вспомогательные сущности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98D135D-4D14-439D-A88D-42F7989AE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940" y="2033587"/>
            <a:ext cx="2524125" cy="279082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4FE3555-A0F0-4CF9-AD90-A88A2C6AD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439" y="2033587"/>
            <a:ext cx="527685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462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</a:t>
            </a:r>
            <a:r>
              <a:rPr lang="en-US" dirty="0"/>
              <a:t>LLM-</a:t>
            </a:r>
            <a:r>
              <a:rPr lang="ru-RU" dirty="0"/>
              <a:t>моделей</a:t>
            </a:r>
          </a:p>
        </p:txBody>
      </p:sp>
      <p:pic>
        <p:nvPicPr>
          <p:cNvPr id="1026" name="Picture 2" descr="Md File Icon Outline Extension Icons Format Symbols Vector Illustration, Md  File, File Icon, Document Icon PNG and Vector with Transparent Background  for Free Download">
            <a:extLst>
              <a:ext uri="{FF2B5EF4-FFF2-40B4-BE49-F238E27FC236}">
                <a16:creationId xmlns:a16="http://schemas.microsoft.com/office/drawing/2014/main" id="{585D5A53-19A2-44FC-A58D-DE1028B28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2701" y="2970371"/>
            <a:ext cx="1875366" cy="187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Знаки кода программирования – Бесплатные иконки: сеть">
            <a:extLst>
              <a:ext uri="{FF2B5EF4-FFF2-40B4-BE49-F238E27FC236}">
                <a16:creationId xmlns:a16="http://schemas.microsoft.com/office/drawing/2014/main" id="{33485128-5842-490D-AE64-64BB1E80A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705" y="1586606"/>
            <a:ext cx="1541661" cy="154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Вопрос – Бесплатные иконки: знаки">
            <a:extLst>
              <a:ext uri="{FF2B5EF4-FFF2-40B4-BE49-F238E27FC236}">
                <a16:creationId xmlns:a16="http://schemas.microsoft.com/office/drawing/2014/main" id="{AEF07E4B-AB2C-4D75-AA9F-AA1D76026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705" y="4500569"/>
            <a:ext cx="1541661" cy="154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Иконки, логотипы, символы Ллм — Скачать в PNG и SVG бесплатно">
            <a:extLst>
              <a:ext uri="{FF2B5EF4-FFF2-40B4-BE49-F238E27FC236}">
                <a16:creationId xmlns:a16="http://schemas.microsoft.com/office/drawing/2014/main" id="{647E097A-9669-4F0A-BF36-A3A5496D9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006" y="280136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10A8A3BD-CC1D-4CD9-A5FB-92F0CEE3F032}"/>
              </a:ext>
            </a:extLst>
          </p:cNvPr>
          <p:cNvGrpSpPr/>
          <p:nvPr/>
        </p:nvGrpSpPr>
        <p:grpSpPr>
          <a:xfrm>
            <a:off x="3806436" y="2650999"/>
            <a:ext cx="1245632" cy="600457"/>
            <a:chOff x="2551423" y="2741694"/>
            <a:chExt cx="1245632" cy="600457"/>
          </a:xfrm>
        </p:grpSpPr>
        <p:sp>
          <p:nvSpPr>
            <p:cNvPr id="24" name="Стрелка: вправо 23">
              <a:extLst>
                <a:ext uri="{FF2B5EF4-FFF2-40B4-BE49-F238E27FC236}">
                  <a16:creationId xmlns:a16="http://schemas.microsoft.com/office/drawing/2014/main" id="{2E62BD9D-16D8-4B63-A6E3-EC5BBF5B3BC2}"/>
                </a:ext>
              </a:extLst>
            </p:cNvPr>
            <p:cNvSpPr/>
            <p:nvPr/>
          </p:nvSpPr>
          <p:spPr>
            <a:xfrm rot="1748711">
              <a:off x="2758367" y="2741694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Стрелка: вправо 30">
              <a:extLst>
                <a:ext uri="{FF2B5EF4-FFF2-40B4-BE49-F238E27FC236}">
                  <a16:creationId xmlns:a16="http://schemas.microsoft.com/office/drawing/2014/main" id="{7A64D3D5-BA18-484B-8E27-BA29ACE7C2B3}"/>
                </a:ext>
              </a:extLst>
            </p:cNvPr>
            <p:cNvSpPr/>
            <p:nvPr/>
          </p:nvSpPr>
          <p:spPr>
            <a:xfrm rot="12600000">
              <a:off x="2551423" y="3041418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4" name="Стрелка: вправо 33">
            <a:extLst>
              <a:ext uri="{FF2B5EF4-FFF2-40B4-BE49-F238E27FC236}">
                <a16:creationId xmlns:a16="http://schemas.microsoft.com/office/drawing/2014/main" id="{A3E06B73-AEE5-4506-9EDA-E08E1BB08480}"/>
              </a:ext>
            </a:extLst>
          </p:cNvPr>
          <p:cNvSpPr/>
          <p:nvPr/>
        </p:nvSpPr>
        <p:spPr>
          <a:xfrm>
            <a:off x="6944013" y="3722560"/>
            <a:ext cx="1038688" cy="30073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A948BF36-5438-42FF-8662-CDC49FE9E50A}"/>
              </a:ext>
            </a:extLst>
          </p:cNvPr>
          <p:cNvGrpSpPr/>
          <p:nvPr/>
        </p:nvGrpSpPr>
        <p:grpSpPr>
          <a:xfrm rot="18000000">
            <a:off x="3784627" y="4472506"/>
            <a:ext cx="1245632" cy="600457"/>
            <a:chOff x="2551423" y="2741694"/>
            <a:chExt cx="1245632" cy="600457"/>
          </a:xfrm>
        </p:grpSpPr>
        <p:sp>
          <p:nvSpPr>
            <p:cNvPr id="37" name="Стрелка: вправо 36">
              <a:extLst>
                <a:ext uri="{FF2B5EF4-FFF2-40B4-BE49-F238E27FC236}">
                  <a16:creationId xmlns:a16="http://schemas.microsoft.com/office/drawing/2014/main" id="{315C6E37-C1DB-4DF6-969F-9FF47CFCDF7D}"/>
                </a:ext>
              </a:extLst>
            </p:cNvPr>
            <p:cNvSpPr/>
            <p:nvPr/>
          </p:nvSpPr>
          <p:spPr>
            <a:xfrm rot="1748711">
              <a:off x="2758367" y="2741694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Стрелка: вправо 37">
              <a:extLst>
                <a:ext uri="{FF2B5EF4-FFF2-40B4-BE49-F238E27FC236}">
                  <a16:creationId xmlns:a16="http://schemas.microsoft.com/office/drawing/2014/main" id="{32282AF9-5384-4781-8BBE-A7543846085F}"/>
                </a:ext>
              </a:extLst>
            </p:cNvPr>
            <p:cNvSpPr/>
            <p:nvPr/>
          </p:nvSpPr>
          <p:spPr>
            <a:xfrm rot="12600000">
              <a:off x="2551423" y="3041418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FBF31E9-AA5C-4354-9B36-E1560D30B1FF}"/>
              </a:ext>
            </a:extLst>
          </p:cNvPr>
          <p:cNvSpPr txBox="1"/>
          <p:nvPr/>
        </p:nvSpPr>
        <p:spPr>
          <a:xfrm>
            <a:off x="5453581" y="4843442"/>
            <a:ext cx="8819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LLM</a:t>
            </a:r>
            <a:endParaRPr lang="ru-RU" sz="2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2E0CFD-3E42-47B1-8DD2-2BEA4C2475A3}"/>
              </a:ext>
            </a:extLst>
          </p:cNvPr>
          <p:cNvSpPr txBox="1"/>
          <p:nvPr/>
        </p:nvSpPr>
        <p:spPr>
          <a:xfrm>
            <a:off x="8119395" y="4706441"/>
            <a:ext cx="1601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context.md</a:t>
            </a:r>
            <a:endParaRPr lang="ru-RU" sz="1600" dirty="0"/>
          </a:p>
        </p:txBody>
      </p:sp>
      <p:pic>
        <p:nvPicPr>
          <p:cNvPr id="1038" name="Picture 14" descr="Буква I PNG">
            <a:extLst>
              <a:ext uri="{FF2B5EF4-FFF2-40B4-BE49-F238E27FC236}">
                <a16:creationId xmlns:a16="http://schemas.microsoft.com/office/drawing/2014/main" id="{CCBEB786-D1EF-4F0B-A16E-4392F31152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77" r="34427"/>
          <a:stretch/>
        </p:blipFill>
        <p:spPr bwMode="auto">
          <a:xfrm>
            <a:off x="1648590" y="1633319"/>
            <a:ext cx="457814" cy="1453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224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</a:t>
            </a:r>
            <a:r>
              <a:rPr lang="en-US" dirty="0"/>
              <a:t>LLM-</a:t>
            </a:r>
            <a:r>
              <a:rPr lang="ru-RU" dirty="0"/>
              <a:t>моделей</a:t>
            </a:r>
          </a:p>
        </p:txBody>
      </p:sp>
      <p:pic>
        <p:nvPicPr>
          <p:cNvPr id="1036" name="Picture 12" descr="Иконки, логотипы, символы Ллм — Скачать в PNG и SVG бесплатно">
            <a:extLst>
              <a:ext uri="{FF2B5EF4-FFF2-40B4-BE49-F238E27FC236}">
                <a16:creationId xmlns:a16="http://schemas.microsoft.com/office/drawing/2014/main" id="{647E097A-9669-4F0A-BF36-A3A5496D9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006" y="280136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10A8A3BD-CC1D-4CD9-A5FB-92F0CEE3F032}"/>
              </a:ext>
            </a:extLst>
          </p:cNvPr>
          <p:cNvGrpSpPr/>
          <p:nvPr/>
        </p:nvGrpSpPr>
        <p:grpSpPr>
          <a:xfrm>
            <a:off x="3691221" y="2676896"/>
            <a:ext cx="1245632" cy="600457"/>
            <a:chOff x="2551423" y="2741694"/>
            <a:chExt cx="1245632" cy="600457"/>
          </a:xfrm>
        </p:grpSpPr>
        <p:sp>
          <p:nvSpPr>
            <p:cNvPr id="24" name="Стрелка: вправо 23">
              <a:extLst>
                <a:ext uri="{FF2B5EF4-FFF2-40B4-BE49-F238E27FC236}">
                  <a16:creationId xmlns:a16="http://schemas.microsoft.com/office/drawing/2014/main" id="{2E62BD9D-16D8-4B63-A6E3-EC5BBF5B3BC2}"/>
                </a:ext>
              </a:extLst>
            </p:cNvPr>
            <p:cNvSpPr/>
            <p:nvPr/>
          </p:nvSpPr>
          <p:spPr>
            <a:xfrm rot="1748711">
              <a:off x="2758367" y="2741694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Стрелка: вправо 30">
              <a:extLst>
                <a:ext uri="{FF2B5EF4-FFF2-40B4-BE49-F238E27FC236}">
                  <a16:creationId xmlns:a16="http://schemas.microsoft.com/office/drawing/2014/main" id="{7A64D3D5-BA18-484B-8E27-BA29ACE7C2B3}"/>
                </a:ext>
              </a:extLst>
            </p:cNvPr>
            <p:cNvSpPr/>
            <p:nvPr/>
          </p:nvSpPr>
          <p:spPr>
            <a:xfrm rot="12600000">
              <a:off x="2551423" y="3041418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4" name="Стрелка: вправо 33">
            <a:extLst>
              <a:ext uri="{FF2B5EF4-FFF2-40B4-BE49-F238E27FC236}">
                <a16:creationId xmlns:a16="http://schemas.microsoft.com/office/drawing/2014/main" id="{A3E06B73-AEE5-4506-9EDA-E08E1BB08480}"/>
              </a:ext>
            </a:extLst>
          </p:cNvPr>
          <p:cNvSpPr/>
          <p:nvPr/>
        </p:nvSpPr>
        <p:spPr>
          <a:xfrm>
            <a:off x="6944013" y="3722560"/>
            <a:ext cx="1038688" cy="30073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A948BF36-5438-42FF-8662-CDC49FE9E50A}"/>
              </a:ext>
            </a:extLst>
          </p:cNvPr>
          <p:cNvGrpSpPr/>
          <p:nvPr/>
        </p:nvGrpSpPr>
        <p:grpSpPr>
          <a:xfrm rot="19800000">
            <a:off x="3689103" y="3651705"/>
            <a:ext cx="1245632" cy="600457"/>
            <a:chOff x="2551423" y="2741694"/>
            <a:chExt cx="1245632" cy="600457"/>
          </a:xfrm>
        </p:grpSpPr>
        <p:sp>
          <p:nvSpPr>
            <p:cNvPr id="37" name="Стрелка: вправо 36">
              <a:extLst>
                <a:ext uri="{FF2B5EF4-FFF2-40B4-BE49-F238E27FC236}">
                  <a16:creationId xmlns:a16="http://schemas.microsoft.com/office/drawing/2014/main" id="{315C6E37-C1DB-4DF6-969F-9FF47CFCDF7D}"/>
                </a:ext>
              </a:extLst>
            </p:cNvPr>
            <p:cNvSpPr/>
            <p:nvPr/>
          </p:nvSpPr>
          <p:spPr>
            <a:xfrm rot="1748711">
              <a:off x="2758367" y="2741694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Стрелка: вправо 37">
              <a:extLst>
                <a:ext uri="{FF2B5EF4-FFF2-40B4-BE49-F238E27FC236}">
                  <a16:creationId xmlns:a16="http://schemas.microsoft.com/office/drawing/2014/main" id="{32282AF9-5384-4781-8BBE-A7543846085F}"/>
                </a:ext>
              </a:extLst>
            </p:cNvPr>
            <p:cNvSpPr/>
            <p:nvPr/>
          </p:nvSpPr>
          <p:spPr>
            <a:xfrm rot="12600000">
              <a:off x="2551423" y="3041418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FBF31E9-AA5C-4354-9B36-E1560D30B1FF}"/>
              </a:ext>
            </a:extLst>
          </p:cNvPr>
          <p:cNvSpPr txBox="1"/>
          <p:nvPr/>
        </p:nvSpPr>
        <p:spPr>
          <a:xfrm>
            <a:off x="5453581" y="4843442"/>
            <a:ext cx="8819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LLM</a:t>
            </a:r>
            <a:endParaRPr lang="ru-RU" sz="2000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B810A4B2-D0BE-4274-8DEE-62658EE4B737}"/>
              </a:ext>
            </a:extLst>
          </p:cNvPr>
          <p:cNvGrpSpPr/>
          <p:nvPr/>
        </p:nvGrpSpPr>
        <p:grpSpPr>
          <a:xfrm>
            <a:off x="2305074" y="1414097"/>
            <a:ext cx="1368516" cy="1669056"/>
            <a:chOff x="8119395" y="3415074"/>
            <a:chExt cx="1368516" cy="1669056"/>
          </a:xfrm>
        </p:grpSpPr>
        <p:pic>
          <p:nvPicPr>
            <p:cNvPr id="1026" name="Picture 2" descr="Md File Icon Outline Extension Icons Format Symbols Vector Illustration, Md  File, File Icon, Document Icon PNG and Vector with Transparent Background  for Free Download">
              <a:extLst>
                <a:ext uri="{FF2B5EF4-FFF2-40B4-BE49-F238E27FC236}">
                  <a16:creationId xmlns:a16="http://schemas.microsoft.com/office/drawing/2014/main" id="{585D5A53-19A2-44FC-A58D-DE1028B289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9395" y="3415074"/>
              <a:ext cx="1368516" cy="13685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22E0CFD-3E42-47B1-8DD2-2BEA4C2475A3}"/>
                </a:ext>
              </a:extLst>
            </p:cNvPr>
            <p:cNvSpPr txBox="1"/>
            <p:nvPr/>
          </p:nvSpPr>
          <p:spPr>
            <a:xfrm>
              <a:off x="8119395" y="4684020"/>
              <a:ext cx="13685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context.md</a:t>
              </a:r>
              <a:endParaRPr lang="ru-RU" sz="1400" dirty="0"/>
            </a:p>
          </p:txBody>
        </p:sp>
      </p:grpSp>
      <p:pic>
        <p:nvPicPr>
          <p:cNvPr id="20" name="Picture 4" descr="Знаки кода программирования – Бесплатные иконки: сеть">
            <a:extLst>
              <a:ext uri="{FF2B5EF4-FFF2-40B4-BE49-F238E27FC236}">
                <a16:creationId xmlns:a16="http://schemas.microsoft.com/office/drawing/2014/main" id="{0FC1929F-64FD-4821-AC91-F759C7C31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307" y="3102095"/>
            <a:ext cx="1541661" cy="154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FEF9D51F-01A6-4C59-9B65-E5A94815049E}"/>
              </a:ext>
            </a:extLst>
          </p:cNvPr>
          <p:cNvGrpSpPr/>
          <p:nvPr/>
        </p:nvGrpSpPr>
        <p:grpSpPr>
          <a:xfrm>
            <a:off x="2305074" y="3101037"/>
            <a:ext cx="1368836" cy="1669056"/>
            <a:chOff x="8119395" y="3415074"/>
            <a:chExt cx="1368836" cy="1669056"/>
          </a:xfrm>
        </p:grpSpPr>
        <p:pic>
          <p:nvPicPr>
            <p:cNvPr id="22" name="Picture 2" descr="Md File Icon Outline Extension Icons Format Symbols Vector Illustration, Md  File, File Icon, Document Icon PNG and Vector with Transparent Background  for Free Download">
              <a:extLst>
                <a:ext uri="{FF2B5EF4-FFF2-40B4-BE49-F238E27FC236}">
                  <a16:creationId xmlns:a16="http://schemas.microsoft.com/office/drawing/2014/main" id="{CCE6459A-E90D-474B-A5B3-DCD7E4282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9395" y="3415074"/>
              <a:ext cx="1368516" cy="13685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DF2AEC1-AD7B-4C59-81EB-4FFFE3F391C3}"/>
                </a:ext>
              </a:extLst>
            </p:cNvPr>
            <p:cNvSpPr txBox="1"/>
            <p:nvPr/>
          </p:nvSpPr>
          <p:spPr>
            <a:xfrm>
              <a:off x="8119395" y="4684020"/>
              <a:ext cx="1368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prompt.md</a:t>
              </a:r>
              <a:endParaRPr lang="ru-RU" sz="1400" dirty="0"/>
            </a:p>
          </p:txBody>
        </p:sp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4B9A7CEB-05ED-4AD4-AA34-4E254E1D1D11}"/>
              </a:ext>
            </a:extLst>
          </p:cNvPr>
          <p:cNvGrpSpPr/>
          <p:nvPr/>
        </p:nvGrpSpPr>
        <p:grpSpPr>
          <a:xfrm>
            <a:off x="2305074" y="4782931"/>
            <a:ext cx="1368516" cy="1667576"/>
            <a:chOff x="8119395" y="3415074"/>
            <a:chExt cx="1368516" cy="1667576"/>
          </a:xfrm>
        </p:grpSpPr>
        <p:pic>
          <p:nvPicPr>
            <p:cNvPr id="28" name="Picture 2" descr="Md File Icon Outline Extension Icons Format Symbols Vector Illustration, Md  File, File Icon, Document Icon PNG and Vector with Transparent Background  for Free Download">
              <a:extLst>
                <a:ext uri="{FF2B5EF4-FFF2-40B4-BE49-F238E27FC236}">
                  <a16:creationId xmlns:a16="http://schemas.microsoft.com/office/drawing/2014/main" id="{A7CD2CA9-B5C9-44BE-9DFA-45F2C2DD49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9395" y="3415074"/>
              <a:ext cx="1368516" cy="13685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40214BE-3F98-410E-9DB6-1E5FF81490EB}"/>
                </a:ext>
              </a:extLst>
            </p:cNvPr>
            <p:cNvSpPr txBox="1"/>
            <p:nvPr/>
          </p:nvSpPr>
          <p:spPr>
            <a:xfrm>
              <a:off x="8291397" y="4682540"/>
              <a:ext cx="10245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algo.md</a:t>
              </a:r>
              <a:endParaRPr lang="ru-RU" sz="1400" dirty="0"/>
            </a:p>
          </p:txBody>
        </p:sp>
      </p:grp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3B53B2A2-138A-4F53-B467-559D84086475}"/>
              </a:ext>
            </a:extLst>
          </p:cNvPr>
          <p:cNvGrpSpPr/>
          <p:nvPr/>
        </p:nvGrpSpPr>
        <p:grpSpPr>
          <a:xfrm rot="18000000">
            <a:off x="3749428" y="4793666"/>
            <a:ext cx="1245632" cy="600457"/>
            <a:chOff x="2551423" y="2741694"/>
            <a:chExt cx="1245632" cy="600457"/>
          </a:xfrm>
        </p:grpSpPr>
        <p:sp>
          <p:nvSpPr>
            <p:cNvPr id="32" name="Стрелка: вправо 31">
              <a:extLst>
                <a:ext uri="{FF2B5EF4-FFF2-40B4-BE49-F238E27FC236}">
                  <a16:creationId xmlns:a16="http://schemas.microsoft.com/office/drawing/2014/main" id="{8B0F37FF-778C-48CE-880F-429AF7D1F878}"/>
                </a:ext>
              </a:extLst>
            </p:cNvPr>
            <p:cNvSpPr/>
            <p:nvPr/>
          </p:nvSpPr>
          <p:spPr>
            <a:xfrm rot="1748711">
              <a:off x="2758367" y="2741694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Стрелка: вправо 32">
              <a:extLst>
                <a:ext uri="{FF2B5EF4-FFF2-40B4-BE49-F238E27FC236}">
                  <a16:creationId xmlns:a16="http://schemas.microsoft.com/office/drawing/2014/main" id="{2063044B-2332-4CFE-9E05-CCEC3FAE74E1}"/>
                </a:ext>
              </a:extLst>
            </p:cNvPr>
            <p:cNvSpPr/>
            <p:nvPr/>
          </p:nvSpPr>
          <p:spPr>
            <a:xfrm rot="12600000">
              <a:off x="2551423" y="3041418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273805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Генерация графа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BE639-8663-453E-BD2F-8E686FE65E3D}"/>
              </a:ext>
            </a:extLst>
          </p:cNvPr>
          <p:cNvSpPr txBox="1"/>
          <p:nvPr/>
        </p:nvSpPr>
        <p:spPr>
          <a:xfrm>
            <a:off x="838200" y="2090172"/>
            <a:ext cx="62054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Генератор </a:t>
            </a:r>
            <a:r>
              <a:rPr lang="ru-RU" sz="2800" dirty="0" err="1"/>
              <a:t>Эрдёша-Реньи</a:t>
            </a: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Генератор Фишера-Йетса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Генератор клики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Генератор цепочки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Генератор прямоугольной решетки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Генератор двудольного графа</a:t>
            </a:r>
          </a:p>
        </p:txBody>
      </p:sp>
    </p:spTree>
    <p:extLst>
      <p:ext uri="{BB962C8B-B14F-4D97-AF65-F5344CB8AC3E}">
        <p14:creationId xmlns:p14="http://schemas.microsoft.com/office/powerpoint/2010/main" val="823228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 </a:t>
            </a:r>
            <a:r>
              <a:rPr lang="ru-RU" dirty="0" err="1"/>
              <a:t>Эрдёша-Реньи</a:t>
            </a:r>
            <a:r>
              <a:rPr lang="ru-RU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838200" y="142907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693494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3A1D8A5-C5E3-4ED3-B7EB-21A0B512B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2298"/>
            <a:ext cx="3502981" cy="48643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6934940" y="1976648"/>
            <a:ext cx="464895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в проекте </a:t>
            </a:r>
            <a:r>
              <a:rPr lang="en-US" dirty="0" err="1"/>
              <a:t>circuits.core</a:t>
            </a:r>
            <a:r>
              <a:rPr lang="en-US" dirty="0"/>
              <a:t> </a:t>
            </a:r>
            <a:r>
              <a:rPr lang="ru-RU" dirty="0"/>
              <a:t>класс </a:t>
            </a:r>
            <a:r>
              <a:rPr lang="en-US" dirty="0" err="1"/>
              <a:t>ErdosRenyiProbabilityGenerator</a:t>
            </a:r>
            <a:r>
              <a:rPr lang="en-US" dirty="0"/>
              <a:t>, </a:t>
            </a:r>
            <a:r>
              <a:rPr lang="ru-RU" dirty="0"/>
              <a:t>реализующий интерфейс </a:t>
            </a:r>
            <a:r>
              <a:rPr lang="en-US" dirty="0" err="1"/>
              <a:t>IGraphGenerator</a:t>
            </a:r>
            <a:r>
              <a:rPr lang="en-US" dirty="0"/>
              <a:t>.</a:t>
            </a:r>
            <a:br>
              <a:rPr lang="en-US" dirty="0"/>
            </a:br>
            <a:r>
              <a:rPr lang="ru-RU" dirty="0"/>
              <a:t>Генератор строит случайный граф по модели </a:t>
            </a:r>
            <a:r>
              <a:rPr lang="ru-RU" dirty="0" err="1"/>
              <a:t>Эрдёша</a:t>
            </a:r>
            <a:r>
              <a:rPr lang="ru-RU" dirty="0"/>
              <a:t>–</a:t>
            </a:r>
            <a:r>
              <a:rPr lang="ru-RU" dirty="0" err="1"/>
              <a:t>Реньи</a:t>
            </a:r>
            <a:r>
              <a:rPr lang="en-US" dirty="0"/>
              <a:t>: </a:t>
            </a:r>
            <a:r>
              <a:rPr lang="ru-RU" dirty="0"/>
              <a:t>для каждой пары</a:t>
            </a:r>
          </a:p>
          <a:p>
            <a:r>
              <a:rPr lang="ru-RU" dirty="0"/>
              <a:t>Вершин</a:t>
            </a:r>
            <a:r>
              <a:rPr lang="en-US" dirty="0"/>
              <a:t> </a:t>
            </a:r>
            <a:r>
              <a:rPr lang="ru-RU" dirty="0"/>
              <a:t>независимо с вероятностью</a:t>
            </a:r>
          </a:p>
          <a:p>
            <a:r>
              <a:rPr lang="en-US" dirty="0" err="1"/>
              <a:t>edgeProbability</a:t>
            </a:r>
            <a:r>
              <a:rPr lang="en-US" dirty="0"/>
              <a:t> </a:t>
            </a:r>
            <a:r>
              <a:rPr lang="ru-RU" dirty="0"/>
              <a:t>добавляется ребро.</a:t>
            </a:r>
            <a:br>
              <a:rPr lang="ru-RU" dirty="0"/>
            </a:br>
            <a:r>
              <a:rPr lang="ru-RU" dirty="0"/>
              <a:t>Параметры конструктора:</a:t>
            </a:r>
            <a:r>
              <a:rPr lang="en-US" dirty="0"/>
              <a:t> …</a:t>
            </a:r>
            <a:br>
              <a:rPr lang="ru-RU" dirty="0"/>
            </a:br>
            <a:r>
              <a:rPr lang="ru-RU" dirty="0"/>
              <a:t>Если параметры некорректны, то …</a:t>
            </a:r>
            <a:br>
              <a:rPr lang="ru-RU" dirty="0"/>
            </a:br>
            <a:r>
              <a:rPr lang="ru-RU" dirty="0"/>
              <a:t>Для случайных чисел используй …</a:t>
            </a:r>
            <a:br>
              <a:rPr lang="en-US" dirty="0"/>
            </a:br>
            <a:r>
              <a:rPr lang="ru-RU" dirty="0"/>
              <a:t>Используй соглашения по коду и доменные типы из ../</a:t>
            </a:r>
            <a:r>
              <a:rPr lang="en-US" dirty="0"/>
              <a:t>context.md.</a:t>
            </a:r>
          </a:p>
          <a:p>
            <a:br>
              <a:rPr lang="en-US" dirty="0"/>
            </a:b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741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 Фишера-Йетса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838200" y="142907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693494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6934940" y="1976648"/>
            <a:ext cx="464895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в проекте </a:t>
            </a:r>
            <a:r>
              <a:rPr lang="en-US" dirty="0" err="1"/>
              <a:t>circuits.core</a:t>
            </a:r>
            <a:r>
              <a:rPr lang="en-US" dirty="0"/>
              <a:t> </a:t>
            </a:r>
            <a:r>
              <a:rPr lang="ru-RU" dirty="0"/>
              <a:t>класс </a:t>
            </a:r>
            <a:r>
              <a:rPr lang="en-US" dirty="0" err="1"/>
              <a:t>FisherYatesGraphGenerator</a:t>
            </a:r>
            <a:r>
              <a:rPr lang="en-US" dirty="0"/>
              <a:t>, </a:t>
            </a:r>
            <a:r>
              <a:rPr lang="ru-RU" dirty="0"/>
              <a:t>реализующий интерфейс </a:t>
            </a:r>
            <a:r>
              <a:rPr lang="en-US" dirty="0" err="1"/>
              <a:t>IGraphGenerator</a:t>
            </a:r>
            <a:br>
              <a:rPr lang="en-US" dirty="0"/>
            </a:br>
            <a:r>
              <a:rPr lang="ru-RU" dirty="0"/>
              <a:t>Генератор строит случайный простой неориентированный граф с </a:t>
            </a:r>
            <a:r>
              <a:rPr lang="ru-RU" b="1" dirty="0"/>
              <a:t>**фиксированным**</a:t>
            </a:r>
            <a:endParaRPr lang="ru-RU" dirty="0"/>
          </a:p>
          <a:p>
            <a:r>
              <a:rPr lang="ru-RU" dirty="0"/>
              <a:t>числом рёбер. Выборка рёбер выполняется по схеме частичной перетасовки</a:t>
            </a:r>
          </a:p>
          <a:p>
            <a:r>
              <a:rPr lang="ru-RU" dirty="0"/>
              <a:t>Фишера–</a:t>
            </a:r>
            <a:r>
              <a:rPr lang="ru-RU" dirty="0" err="1"/>
              <a:t>Йейтса</a:t>
            </a:r>
            <a:r>
              <a:rPr lang="ru-RU" dirty="0"/>
              <a:t> по списку всех возможных рёбер</a:t>
            </a:r>
            <a:br>
              <a:rPr lang="en-US" dirty="0"/>
            </a:br>
            <a:r>
              <a:rPr lang="ru-RU" dirty="0"/>
              <a:t>Параметры конструктора: …</a:t>
            </a:r>
            <a:br>
              <a:rPr lang="en-US" dirty="0"/>
            </a:br>
            <a:r>
              <a:rPr lang="ru-RU" dirty="0"/>
              <a:t>Если параметры некорректны, то …</a:t>
            </a:r>
            <a:br>
              <a:rPr lang="en-US" dirty="0"/>
            </a:br>
            <a:r>
              <a:rPr lang="ru-RU" dirty="0"/>
              <a:t>Для случайных чисел используй …</a:t>
            </a:r>
            <a:br>
              <a:rPr lang="en-US" dirty="0"/>
            </a:br>
            <a:r>
              <a:rPr lang="ru-RU" dirty="0"/>
              <a:t>Используй соглашения по коду и доменные типы из ../</a:t>
            </a:r>
            <a:r>
              <a:rPr lang="en-US" dirty="0"/>
              <a:t>context.md.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FE4700-593E-447C-A0CE-53C65C22B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949226"/>
            <a:ext cx="2561948" cy="427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605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 клики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838200" y="142907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693494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6934940" y="1976648"/>
            <a:ext cx="46489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в проекте </a:t>
            </a:r>
            <a:r>
              <a:rPr lang="en-US" dirty="0" err="1"/>
              <a:t>circuits.core</a:t>
            </a:r>
            <a:r>
              <a:rPr lang="en-US" dirty="0"/>
              <a:t> </a:t>
            </a:r>
            <a:r>
              <a:rPr lang="ru-RU" dirty="0"/>
              <a:t>класс</a:t>
            </a:r>
            <a:r>
              <a:rPr lang="en-US" dirty="0"/>
              <a:t> </a:t>
            </a:r>
            <a:r>
              <a:rPr lang="en-US" dirty="0" err="1"/>
              <a:t>CliqueGraphGenerator</a:t>
            </a:r>
            <a:r>
              <a:rPr lang="en-US" dirty="0"/>
              <a:t>, </a:t>
            </a:r>
            <a:r>
              <a:rPr lang="ru-RU" dirty="0"/>
              <a:t>реализующий интерфейс </a:t>
            </a:r>
            <a:r>
              <a:rPr lang="en-US" dirty="0" err="1"/>
              <a:t>IGraphGenerator</a:t>
            </a:r>
            <a:r>
              <a:rPr lang="en-US" dirty="0"/>
              <a:t>.</a:t>
            </a:r>
            <a:br>
              <a:rPr lang="en-US" dirty="0"/>
            </a:br>
            <a:r>
              <a:rPr lang="ru-RU" dirty="0"/>
              <a:t>Генератор строит полный неориентированный граф</a:t>
            </a:r>
            <a:r>
              <a:rPr lang="en-US" dirty="0"/>
              <a:t>: </a:t>
            </a:r>
            <a:r>
              <a:rPr lang="ru-RU" dirty="0"/>
              <a:t>для каждой пары вершин</a:t>
            </a:r>
            <a:r>
              <a:rPr lang="en-US" dirty="0"/>
              <a:t> </a:t>
            </a:r>
            <a:r>
              <a:rPr lang="ru-RU" dirty="0"/>
              <a:t>добавляется ребро.</a:t>
            </a:r>
            <a:br>
              <a:rPr lang="ru-RU" dirty="0"/>
            </a:br>
            <a:r>
              <a:rPr lang="ru-RU" dirty="0"/>
              <a:t>Параметры конструктора:</a:t>
            </a:r>
            <a:r>
              <a:rPr lang="en-US" dirty="0"/>
              <a:t> …</a:t>
            </a:r>
            <a:br>
              <a:rPr lang="ru-RU" dirty="0"/>
            </a:br>
            <a:r>
              <a:rPr lang="ru-RU" dirty="0"/>
              <a:t>Если параметры некорректны, то …</a:t>
            </a:r>
            <a:br>
              <a:rPr lang="ru-RU" dirty="0"/>
            </a:br>
            <a:r>
              <a:rPr lang="ru-RU" dirty="0"/>
              <a:t>Используй соглашения по коду и доменные типы из ../</a:t>
            </a:r>
            <a:r>
              <a:rPr lang="en-US" dirty="0"/>
              <a:t>context.md.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6794815-E67D-4680-A34D-E6095E8A0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46943"/>
            <a:ext cx="2783889" cy="464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09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 цепочки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838200" y="142907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693494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6934940" y="1976648"/>
            <a:ext cx="464895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в проекте </a:t>
            </a:r>
            <a:r>
              <a:rPr lang="en-US" dirty="0" err="1"/>
              <a:t>circuits.core</a:t>
            </a:r>
            <a:r>
              <a:rPr lang="en-US" dirty="0"/>
              <a:t> </a:t>
            </a:r>
            <a:r>
              <a:rPr lang="ru-RU" dirty="0"/>
              <a:t>класс </a:t>
            </a:r>
            <a:r>
              <a:rPr lang="en-US" dirty="0" err="1"/>
              <a:t>ChainGraphGenerator</a:t>
            </a:r>
            <a:r>
              <a:rPr lang="en-US" dirty="0"/>
              <a:t>, </a:t>
            </a:r>
            <a:r>
              <a:rPr lang="ru-RU" dirty="0"/>
              <a:t>реализующий интерфейс </a:t>
            </a:r>
            <a:r>
              <a:rPr lang="en-US" dirty="0" err="1"/>
              <a:t>IGraphGenerator</a:t>
            </a:r>
            <a:r>
              <a:rPr lang="en-US" dirty="0"/>
              <a:t>.</a:t>
            </a:r>
            <a:br>
              <a:rPr lang="en-US" dirty="0"/>
            </a:br>
            <a:r>
              <a:rPr lang="ru-RU" dirty="0"/>
              <a:t>Генератор строит граф‑цикл: все вершины соединены последовательно, дополнительно добавляется замыкающее (последняя с первой)</a:t>
            </a:r>
            <a:br>
              <a:rPr lang="en-US" dirty="0"/>
            </a:br>
            <a:r>
              <a:rPr lang="ru-RU" dirty="0"/>
              <a:t>Параметры конструктора: …</a:t>
            </a:r>
          </a:p>
          <a:p>
            <a:r>
              <a:rPr lang="ru-RU" dirty="0"/>
              <a:t>Если параметры некорректны, то …</a:t>
            </a:r>
            <a:br>
              <a:rPr lang="ru-RU" dirty="0"/>
            </a:br>
            <a:r>
              <a:rPr lang="ru-RU" dirty="0"/>
              <a:t>Используй соглашения по коду и доменные типы из ../</a:t>
            </a:r>
            <a:r>
              <a:rPr lang="en-US" dirty="0"/>
              <a:t>context.md.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60FFC4E-18ED-4DC8-B16B-053EE0158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2298"/>
            <a:ext cx="4887897" cy="451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64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 прямоугольной решетки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838200" y="142907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693494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6934940" y="1976648"/>
            <a:ext cx="46489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в проекте </a:t>
            </a:r>
            <a:r>
              <a:rPr lang="ru-RU" dirty="0" err="1"/>
              <a:t>circuits.cor</a:t>
            </a:r>
            <a:r>
              <a:rPr lang="en-US" dirty="0"/>
              <a:t>e</a:t>
            </a:r>
            <a:r>
              <a:rPr lang="ru-RU" dirty="0"/>
              <a:t> класс </a:t>
            </a:r>
            <a:r>
              <a:rPr lang="ru-RU" dirty="0" err="1"/>
              <a:t>RegularGridGraphGenerator</a:t>
            </a:r>
            <a:r>
              <a:rPr lang="ru-RU" dirty="0"/>
              <a:t>, реализующий интерфейс </a:t>
            </a:r>
            <a:r>
              <a:rPr lang="ru-RU" dirty="0" err="1"/>
              <a:t>IGraphGenerator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Генератор строит прямоугольную решётку</a:t>
            </a:r>
            <a:r>
              <a:rPr lang="en-US" dirty="0"/>
              <a:t>. </a:t>
            </a:r>
            <a:r>
              <a:rPr lang="ru-RU" dirty="0"/>
              <a:t>Каждому пересечению в сетке соответствует одна вершина. Соседи по горизонтали и по вертикали</a:t>
            </a:r>
            <a:r>
              <a:rPr lang="en-US" dirty="0"/>
              <a:t> </a:t>
            </a:r>
            <a:r>
              <a:rPr lang="ru-RU" dirty="0"/>
              <a:t>соединены рёбрами, диагональных рёбер нет.</a:t>
            </a:r>
            <a:br>
              <a:rPr lang="ru-RU" dirty="0"/>
            </a:br>
            <a:r>
              <a:rPr lang="ru-RU" dirty="0"/>
              <a:t>Параметры конструктора: …</a:t>
            </a:r>
            <a:br>
              <a:rPr lang="ru-RU" dirty="0"/>
            </a:br>
            <a:r>
              <a:rPr lang="ru-RU" dirty="0"/>
              <a:t>Если параметры некорректны, то …</a:t>
            </a:r>
            <a:br>
              <a:rPr lang="ru-RU" dirty="0"/>
            </a:br>
            <a:r>
              <a:rPr lang="ru-RU" dirty="0"/>
              <a:t>Индекс вершины в сетке считается как</a:t>
            </a:r>
          </a:p>
          <a:p>
            <a:r>
              <a:rPr lang="ru-RU" dirty="0" err="1"/>
              <a:t>rowIndex</a:t>
            </a:r>
            <a:r>
              <a:rPr lang="ru-RU" dirty="0"/>
              <a:t> * </a:t>
            </a:r>
            <a:r>
              <a:rPr lang="ru-RU" dirty="0" err="1"/>
              <a:t>colsCount</a:t>
            </a:r>
            <a:r>
              <a:rPr lang="ru-RU" dirty="0"/>
              <a:t> + </a:t>
            </a:r>
            <a:r>
              <a:rPr lang="ru-RU" dirty="0" err="1"/>
              <a:t>colIndex</a:t>
            </a:r>
            <a:r>
              <a:rPr lang="ru-RU" dirty="0"/>
              <a:t> + 1 (индексы вершин в проекте начинаются с 1).</a:t>
            </a:r>
            <a:br>
              <a:rPr lang="ru-RU" dirty="0"/>
            </a:br>
            <a:r>
              <a:rPr lang="ru-RU" dirty="0"/>
              <a:t>Используй соглашения по коду и доменные типы из `../context.md`.</a:t>
            </a:r>
            <a:br>
              <a:rPr lang="ru-RU" dirty="0"/>
            </a:b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B0F5ED8-F1DB-42C3-8775-F2D0B6C00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952298"/>
            <a:ext cx="2757256" cy="460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95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 двудольного графа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838200" y="142907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693494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6934940" y="1976648"/>
            <a:ext cx="464895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в проекте </a:t>
            </a:r>
            <a:r>
              <a:rPr lang="en-US" dirty="0" err="1"/>
              <a:t>circuits.core</a:t>
            </a:r>
            <a:r>
              <a:rPr lang="en-US" dirty="0"/>
              <a:t> </a:t>
            </a:r>
            <a:r>
              <a:rPr lang="ru-RU" dirty="0"/>
              <a:t>класс </a:t>
            </a:r>
            <a:r>
              <a:rPr lang="en-US" dirty="0" err="1"/>
              <a:t>BipartiteGraphGenerator</a:t>
            </a:r>
            <a:r>
              <a:rPr lang="en-US" dirty="0"/>
              <a:t>, </a:t>
            </a:r>
            <a:r>
              <a:rPr lang="ru-RU" dirty="0"/>
              <a:t>реализующий интерфейс </a:t>
            </a:r>
            <a:r>
              <a:rPr lang="en-US" dirty="0" err="1"/>
              <a:t>IGraphGenerator</a:t>
            </a:r>
            <a:r>
              <a:rPr lang="en-US" dirty="0"/>
              <a:t>.</a:t>
            </a:r>
            <a:br>
              <a:rPr lang="en-US" dirty="0"/>
            </a:br>
            <a:r>
              <a:rPr lang="ru-RU" dirty="0"/>
              <a:t>Генератор строит неориентированный двудольный граф с заданными размерами левой и правой долей и заданным числом рёбер. Рёбра идут только между долями.</a:t>
            </a:r>
            <a:br>
              <a:rPr lang="ru-RU" dirty="0"/>
            </a:br>
            <a:r>
              <a:rPr lang="ru-RU" dirty="0"/>
              <a:t>Параметры конструктора: …</a:t>
            </a:r>
            <a:br>
              <a:rPr lang="ru-RU" dirty="0"/>
            </a:br>
            <a:r>
              <a:rPr lang="ru-RU" dirty="0"/>
              <a:t>Если параметры некорректны, то …</a:t>
            </a:r>
            <a:br>
              <a:rPr lang="ru-RU" dirty="0"/>
            </a:br>
            <a:r>
              <a:rPr lang="ru-RU" dirty="0"/>
              <a:t>Вершины с индексами 1, …, </a:t>
            </a:r>
            <a:r>
              <a:rPr lang="en-US" dirty="0" err="1"/>
              <a:t>leftPartitionSize</a:t>
            </a:r>
            <a:r>
              <a:rPr lang="en-US" dirty="0"/>
              <a:t> </a:t>
            </a:r>
            <a:r>
              <a:rPr lang="ru-RU" dirty="0"/>
              <a:t>относятся к левой доле, индексы</a:t>
            </a:r>
          </a:p>
          <a:p>
            <a:r>
              <a:rPr lang="en-US" dirty="0"/>
              <a:t>leftPartitionSize+1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…, </a:t>
            </a:r>
            <a:r>
              <a:rPr lang="en-US" dirty="0" err="1"/>
              <a:t>leftPartitionSize+rightPartitionSize</a:t>
            </a:r>
            <a:r>
              <a:rPr lang="en-US" dirty="0"/>
              <a:t> — </a:t>
            </a:r>
            <a:r>
              <a:rPr lang="ru-RU" dirty="0"/>
              <a:t>к правой.</a:t>
            </a:r>
            <a:br>
              <a:rPr lang="ru-RU" dirty="0"/>
            </a:br>
            <a:r>
              <a:rPr lang="ru-RU" dirty="0"/>
              <a:t>Используй соглашения по коду и доменные типы из `../</a:t>
            </a:r>
            <a:r>
              <a:rPr lang="en-US" dirty="0"/>
              <a:t>context.md`.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529546E-8AC4-4C6C-A54C-ACC5CD305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2298"/>
            <a:ext cx="3677790" cy="452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149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Генерация разбиения графа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BE639-8663-453E-BD2F-8E686FE65E3D}"/>
              </a:ext>
            </a:extLst>
          </p:cNvPr>
          <p:cNvSpPr txBox="1"/>
          <p:nvPr/>
        </p:nvSpPr>
        <p:spPr>
          <a:xfrm>
            <a:off x="838200" y="2090172"/>
            <a:ext cx="7400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Генератор разбиения </a:t>
            </a:r>
            <a:r>
              <a:rPr lang="ru-RU" sz="2800" dirty="0" err="1"/>
              <a:t>Кернигана</a:t>
            </a:r>
            <a:r>
              <a:rPr lang="ru-RU" sz="2800" dirty="0"/>
              <a:t>-Лина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1A33C4ED-5503-469A-91EF-A3226BCA9592}"/>
                  </a:ext>
                </a:extLst>
              </p14:cNvPr>
              <p14:cNvContentPartPr/>
              <p14:nvPr/>
            </p14:nvContentPartPr>
            <p14:xfrm>
              <a:off x="140183" y="3461802"/>
              <a:ext cx="10182600" cy="924840"/>
            </p14:xfrm>
          </p:contentPart>
        </mc:Choice>
        <mc:Fallback xmlns=""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1A33C4ED-5503-469A-91EF-A3226BCA95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183" y="3353802"/>
                <a:ext cx="10290240" cy="114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37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 разбиения </a:t>
            </a:r>
            <a:r>
              <a:rPr lang="ru-RU" dirty="0" err="1"/>
              <a:t>Кернигана</a:t>
            </a:r>
            <a:r>
              <a:rPr lang="ru-RU" dirty="0"/>
              <a:t>-Лина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838200" y="142907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693494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6934940" y="1976648"/>
            <a:ext cx="46489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в проекте </a:t>
            </a:r>
            <a:r>
              <a:rPr lang="en-US" dirty="0" err="1"/>
              <a:t>circuits.core</a:t>
            </a:r>
            <a:r>
              <a:rPr lang="en-US" dirty="0"/>
              <a:t> </a:t>
            </a:r>
            <a:r>
              <a:rPr lang="ru-RU" dirty="0"/>
              <a:t>класс</a:t>
            </a:r>
          </a:p>
          <a:p>
            <a:r>
              <a:rPr lang="en-US" dirty="0" err="1"/>
              <a:t>KernighanLinGraphPartitionGenerator</a:t>
            </a:r>
            <a:r>
              <a:rPr lang="en-US" dirty="0"/>
              <a:t>, </a:t>
            </a:r>
            <a:r>
              <a:rPr lang="ru-RU" dirty="0"/>
              <a:t>реализующий интерфейс</a:t>
            </a:r>
          </a:p>
          <a:p>
            <a:r>
              <a:rPr lang="en-US" dirty="0" err="1"/>
              <a:t>IGraphPartitionGenerator</a:t>
            </a:r>
            <a:endParaRPr lang="ru-RU" dirty="0"/>
          </a:p>
          <a:p>
            <a:r>
              <a:rPr lang="ru-RU" dirty="0"/>
              <a:t>Это упрощённый «жадный» вариант алгоритма </a:t>
            </a:r>
            <a:r>
              <a:rPr lang="ru-RU" dirty="0" err="1"/>
              <a:t>Кернигана</a:t>
            </a:r>
            <a:r>
              <a:rPr lang="ru-RU" dirty="0"/>
              <a:t>–Лина для разбиения графа на </a:t>
            </a:r>
            <a:r>
              <a:rPr lang="en-US" dirty="0"/>
              <a:t>k </a:t>
            </a:r>
            <a:r>
              <a:rPr lang="ru-RU" dirty="0"/>
              <a:t>частей с минимизацией числа</a:t>
            </a:r>
          </a:p>
          <a:p>
            <a:r>
              <a:rPr lang="ru-RU" dirty="0"/>
              <a:t>пересекающих границу рёбер.</a:t>
            </a:r>
            <a:br>
              <a:rPr lang="ru-RU" dirty="0"/>
            </a:br>
            <a:r>
              <a:rPr lang="ru-RU" dirty="0"/>
              <a:t>Параметры конструктора: …</a:t>
            </a:r>
            <a:br>
              <a:rPr lang="en-US" dirty="0"/>
            </a:br>
            <a:r>
              <a:rPr lang="ru-RU" dirty="0"/>
              <a:t>Для случайных чисел используй …</a:t>
            </a:r>
            <a:br>
              <a:rPr lang="ru-RU" dirty="0"/>
            </a:br>
            <a:r>
              <a:rPr lang="ru-RU" dirty="0"/>
              <a:t>Используй соглашения по коду и доменные типы из `../</a:t>
            </a:r>
            <a:r>
              <a:rPr lang="en-US" dirty="0"/>
              <a:t>context.md`.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C24F7B8-C6F5-4C10-AF08-D7A75731F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952298"/>
            <a:ext cx="4706238" cy="427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5320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790" y="160665"/>
            <a:ext cx="10515600" cy="1325563"/>
          </a:xfrm>
        </p:spPr>
        <p:txBody>
          <a:bodyPr/>
          <a:lstStyle/>
          <a:p>
            <a:r>
              <a:rPr lang="ru-RU" dirty="0"/>
              <a:t>Генератор разбиения </a:t>
            </a:r>
            <a:br>
              <a:rPr lang="en-US" dirty="0"/>
            </a:br>
            <a:r>
              <a:rPr lang="ru-RU" dirty="0" err="1"/>
              <a:t>Фиддуча</a:t>
            </a:r>
            <a:r>
              <a:rPr lang="ru-RU" dirty="0"/>
              <a:t>–Мэтьюса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5198246" y="148622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40079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305540" y="2173498"/>
            <a:ext cx="46489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алгоритм </a:t>
            </a:r>
            <a:r>
              <a:rPr lang="ru-RU" dirty="0" err="1"/>
              <a:t>Фиддуча</a:t>
            </a:r>
            <a:r>
              <a:rPr lang="ru-RU" dirty="0"/>
              <a:t>–Мэтьюса (</a:t>
            </a:r>
            <a:r>
              <a:rPr lang="ru-RU" dirty="0" err="1"/>
              <a:t>Fiduccia</a:t>
            </a:r>
            <a:r>
              <a:rPr lang="ru-RU" dirty="0"/>
              <a:t>–</a:t>
            </a:r>
            <a:r>
              <a:rPr lang="ru-RU" dirty="0" err="1"/>
              <a:t>Mattheyses</a:t>
            </a:r>
            <a:r>
              <a:rPr lang="ru-RU" dirty="0"/>
              <a:t>) для двудольного разбиения графа на C#. Алгоритм должен реализовывать интерфейс </a:t>
            </a:r>
            <a:r>
              <a:rPr lang="ru-RU" dirty="0" err="1"/>
              <a:t>IGraphPartitionGenerator</a:t>
            </a:r>
            <a:r>
              <a:rPr lang="ru-RU" dirty="0"/>
              <a:t> с методом </a:t>
            </a:r>
            <a:r>
              <a:rPr lang="ru-RU" dirty="0" err="1"/>
              <a:t>Generate</a:t>
            </a:r>
            <a:r>
              <a:rPr lang="ru-RU" dirty="0"/>
              <a:t>(</a:t>
            </a:r>
            <a:r>
              <a:rPr lang="ru-RU" dirty="0" err="1"/>
              <a:t>IGraph</a:t>
            </a:r>
            <a:r>
              <a:rPr lang="ru-RU" dirty="0"/>
              <a:t> </a:t>
            </a:r>
            <a:r>
              <a:rPr lang="ru-RU" dirty="0" err="1"/>
              <a:t>graph</a:t>
            </a:r>
            <a:r>
              <a:rPr lang="ru-RU" dirty="0"/>
              <a:t>). Алгоритм должен итеративно перемещать одну разблокированную вершину с наибольшим </a:t>
            </a:r>
            <a:r>
              <a:rPr lang="ru-RU" dirty="0" err="1"/>
              <a:t>gain</a:t>
            </a:r>
            <a:r>
              <a:rPr lang="ru-RU" dirty="0"/>
              <a:t> в противоположную часть, обновлять приросты </a:t>
            </a:r>
            <a:r>
              <a:rPr lang="ru-RU" dirty="0" err="1"/>
              <a:t>соседей,фиксировать</a:t>
            </a:r>
            <a:r>
              <a:rPr lang="ru-RU" dirty="0"/>
              <a:t> лучшую точку в последовательности ходов и откатываться к ней.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8" name="Рисунок 7" descr="Изображение выглядит как диаграмма, зарисовка, рисунок, Технический чертеж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02F3360-1862-A192-FC81-8CFA2CF3B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717" y="361950"/>
            <a:ext cx="2858581" cy="61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1411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Результаты: качество разбиения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BE639-8663-453E-BD2F-8E686FE65E3D}"/>
              </a:ext>
            </a:extLst>
          </p:cNvPr>
          <p:cNvSpPr txBox="1"/>
          <p:nvPr/>
        </p:nvSpPr>
        <p:spPr>
          <a:xfrm>
            <a:off x="838200" y="1569472"/>
            <a:ext cx="74002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Качество разбиения — число межсоединений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5E5718-F01A-0145-009D-3022EED5428C}"/>
              </a:ext>
            </a:extLst>
          </p:cNvPr>
          <p:cNvSpPr txBox="1"/>
          <p:nvPr/>
        </p:nvSpPr>
        <p:spPr>
          <a:xfrm>
            <a:off x="469900" y="2804596"/>
            <a:ext cx="31369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Подзаголовок: Генератор </a:t>
            </a:r>
            <a:r>
              <a:rPr lang="ru-RU" dirty="0" err="1"/>
              <a:t>Эрдёша</a:t>
            </a:r>
            <a:r>
              <a:rPr lang="ru-RU" dirty="0"/>
              <a:t>–</a:t>
            </a:r>
            <a:r>
              <a:rPr lang="ru-RU" dirty="0" err="1"/>
              <a:t>Реньи</a:t>
            </a:r>
            <a:r>
              <a:rPr lang="ru-RU" dirty="0"/>
              <a:t> (p = 0.30), 3 прогона на каждый размер</a:t>
            </a:r>
          </a:p>
        </p:txBody>
      </p:sp>
      <p:pic>
        <p:nvPicPr>
          <p:cNvPr id="4" name="Рисунок 3" descr="Изображение выглядит как текст, снимок экрана, число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2F51E8B-3DD2-9D07-DDE5-A1DA8B319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539" y="2103675"/>
            <a:ext cx="6473670" cy="40263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92984D-A009-8B89-C061-C94B138E3BF8}"/>
              </a:ext>
            </a:extLst>
          </p:cNvPr>
          <p:cNvSpPr txBox="1"/>
          <p:nvPr/>
        </p:nvSpPr>
        <p:spPr>
          <a:xfrm>
            <a:off x="4978401" y="49358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/>
              <a:t>Вывод: FM превосходит KL по качеству разбиения на 1–12,5% на случайных графах (ER, p=0,15). Наибольшая разница при малых n: +12,5% при n=25, +7,5% при n=100; при n=600 разница сглаживается до 1,2%. Критическое преимущество — скорость: KL при n=600 работает 8 914 мс, FM — 230 мс (в 39 раз быстрее).</a:t>
            </a:r>
          </a:p>
        </p:txBody>
      </p:sp>
    </p:spTree>
    <p:extLst>
      <p:ext uri="{BB962C8B-B14F-4D97-AF65-F5344CB8AC3E}">
        <p14:creationId xmlns:p14="http://schemas.microsoft.com/office/powerpoint/2010/main" val="3396615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Результаты: качество разбиения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BE639-8663-453E-BD2F-8E686FE65E3D}"/>
              </a:ext>
            </a:extLst>
          </p:cNvPr>
          <p:cNvSpPr txBox="1"/>
          <p:nvPr/>
        </p:nvSpPr>
        <p:spPr>
          <a:xfrm>
            <a:off x="838200" y="1569472"/>
            <a:ext cx="7400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Ранжирование генераторов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5E5718-F01A-0145-009D-3022EED5428C}"/>
              </a:ext>
            </a:extLst>
          </p:cNvPr>
          <p:cNvSpPr txBox="1"/>
          <p:nvPr/>
        </p:nvSpPr>
        <p:spPr>
          <a:xfrm>
            <a:off x="5886450" y="1383982"/>
            <a:ext cx="3136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Подзаголовок: </a:t>
            </a:r>
            <a:r>
              <a:rPr lang="en-US" dirty="0"/>
              <a:t>n =200 p = 0.</a:t>
            </a:r>
            <a:r>
              <a:rPr lang="ru-RU" dirty="0"/>
              <a:t>3</a:t>
            </a:r>
            <a:r>
              <a:rPr lang="en-US" dirty="0"/>
              <a:t> </a:t>
            </a:r>
            <a:r>
              <a:rPr lang="ru-RU" dirty="0"/>
              <a:t>3 прогона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23548E78-92F7-C089-E1CE-B86524A6A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703215"/>
              </p:ext>
            </p:extLst>
          </p:nvPr>
        </p:nvGraphicFramePr>
        <p:xfrm>
          <a:off x="406400" y="2369939"/>
          <a:ext cx="81280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5645074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7194855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988000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3849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Генератор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FM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FM </a:t>
                      </a:r>
                      <a:r>
                        <a:rPr lang="ru-RU" dirty="0"/>
                        <a:t>лучше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45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err="1"/>
                        <a:t>Эрдёша-Реньи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1180,3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1153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+2,3%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321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Регулярная решетка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52,3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15,0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+71,3%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770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Двудольный граф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1192,3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1179,3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+1,1%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808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Фишер-Йетс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1169,3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1141,0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+2,4%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047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Цепочка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28,7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+74,4%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81388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02336" y="5029200"/>
            <a:ext cx="11430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 err="1"/>
              <a:t>Вывод</a:t>
            </a:r>
            <a:r>
              <a:rPr sz="1000" b="0" dirty="0"/>
              <a:t>: FM </a:t>
            </a:r>
            <a:r>
              <a:rPr sz="1000" b="0" dirty="0" err="1"/>
              <a:t>превосходит</a:t>
            </a:r>
            <a:r>
              <a:rPr sz="1000" b="0" dirty="0"/>
              <a:t> KL </a:t>
            </a:r>
            <a:r>
              <a:rPr sz="1000" b="0" dirty="0" err="1"/>
              <a:t>на</a:t>
            </a:r>
            <a:r>
              <a:rPr sz="1000" b="0" dirty="0"/>
              <a:t> </a:t>
            </a:r>
            <a:r>
              <a:rPr sz="1000" b="0" dirty="0" err="1"/>
              <a:t>всех</a:t>
            </a:r>
            <a:r>
              <a:rPr sz="1000" b="0" dirty="0"/>
              <a:t> </a:t>
            </a:r>
            <a:r>
              <a:rPr sz="1000" b="0" dirty="0" err="1"/>
              <a:t>типах</a:t>
            </a:r>
            <a:r>
              <a:rPr sz="1000" b="0" dirty="0"/>
              <a:t> </a:t>
            </a:r>
            <a:r>
              <a:rPr sz="1000" b="0" dirty="0" err="1"/>
              <a:t>графов</a:t>
            </a:r>
            <a:r>
              <a:rPr sz="1000" b="0" dirty="0"/>
              <a:t> — </a:t>
            </a:r>
            <a:r>
              <a:rPr sz="1000" b="0" dirty="0" err="1"/>
              <a:t>от</a:t>
            </a:r>
            <a:r>
              <a:rPr sz="1000" b="0" dirty="0"/>
              <a:t> +1,1% (</a:t>
            </a:r>
            <a:r>
              <a:rPr sz="1000" b="0" dirty="0" err="1"/>
              <a:t>двудольный</a:t>
            </a:r>
            <a:r>
              <a:rPr sz="1000" b="0" dirty="0"/>
              <a:t>) </a:t>
            </a:r>
            <a:r>
              <a:rPr sz="1000" b="0" dirty="0" err="1"/>
              <a:t>до</a:t>
            </a:r>
            <a:r>
              <a:rPr sz="1000" b="0" dirty="0"/>
              <a:t> +74,4% (</a:t>
            </a:r>
            <a:r>
              <a:rPr sz="1000" b="0" dirty="0" err="1"/>
              <a:t>цепочка</a:t>
            </a:r>
            <a:r>
              <a:rPr sz="1000" b="0" dirty="0"/>
              <a:t>). </a:t>
            </a:r>
            <a:r>
              <a:rPr sz="1000" b="0" dirty="0" err="1"/>
              <a:t>Ранжирование</a:t>
            </a:r>
            <a:r>
              <a:rPr sz="1000" b="0" dirty="0"/>
              <a:t> </a:t>
            </a:r>
            <a:r>
              <a:rPr sz="1000" b="0" dirty="0" err="1"/>
              <a:t>по</a:t>
            </a:r>
            <a:r>
              <a:rPr sz="1000" b="0" dirty="0"/>
              <a:t> </a:t>
            </a:r>
            <a:r>
              <a:rPr sz="1000" b="0" dirty="0" err="1"/>
              <a:t>числу</a:t>
            </a:r>
            <a:r>
              <a:rPr sz="1000" b="0" dirty="0"/>
              <a:t> </a:t>
            </a:r>
            <a:r>
              <a:rPr sz="1000" b="0" dirty="0" err="1"/>
              <a:t>межсоединений</a:t>
            </a:r>
            <a:r>
              <a:rPr sz="1000" b="0" dirty="0"/>
              <a:t> FM </a:t>
            </a:r>
            <a:r>
              <a:rPr sz="1000" b="0" dirty="0" err="1"/>
              <a:t>при</a:t>
            </a:r>
            <a:r>
              <a:rPr sz="1000" b="0" dirty="0"/>
              <a:t> n=200 (</a:t>
            </a:r>
            <a:r>
              <a:rPr sz="1000" b="0" dirty="0" err="1"/>
              <a:t>от</a:t>
            </a:r>
            <a:r>
              <a:rPr sz="1000" b="0" dirty="0"/>
              <a:t> </a:t>
            </a:r>
            <a:r>
              <a:rPr sz="1000" b="0" dirty="0" err="1"/>
              <a:t>лучшего</a:t>
            </a:r>
            <a:r>
              <a:rPr sz="1000" b="0" dirty="0"/>
              <a:t> к </a:t>
            </a:r>
            <a:r>
              <a:rPr sz="1000" b="0" dirty="0" err="1"/>
              <a:t>худшему</a:t>
            </a:r>
            <a:r>
              <a:rPr sz="1000" b="0" dirty="0"/>
              <a:t>): 1) </a:t>
            </a:r>
            <a:r>
              <a:rPr sz="1000" b="0" dirty="0" err="1"/>
              <a:t>Цепочка</a:t>
            </a:r>
            <a:r>
              <a:rPr sz="1000" b="0" dirty="0"/>
              <a:t> (7,3) — </a:t>
            </a:r>
            <a:r>
              <a:rPr sz="1000" b="0" dirty="0" err="1"/>
              <a:t>структура</a:t>
            </a:r>
            <a:r>
              <a:rPr sz="1000" b="0" dirty="0"/>
              <a:t> </a:t>
            </a:r>
            <a:r>
              <a:rPr sz="1000" b="0" dirty="0" err="1"/>
              <a:t>близка</a:t>
            </a:r>
            <a:r>
              <a:rPr sz="1000" b="0" dirty="0"/>
              <a:t> к </a:t>
            </a:r>
            <a:r>
              <a:rPr sz="1000" b="0" dirty="0" err="1"/>
              <a:t>оптимально</a:t>
            </a:r>
            <a:r>
              <a:rPr sz="1000" b="0" dirty="0"/>
              <a:t> </a:t>
            </a:r>
            <a:r>
              <a:rPr sz="1000" b="0" dirty="0" err="1"/>
              <a:t>делимой</a:t>
            </a:r>
            <a:r>
              <a:rPr sz="1000" b="0" dirty="0"/>
              <a:t>; 2) </a:t>
            </a:r>
            <a:r>
              <a:rPr sz="1000" b="0" dirty="0" err="1"/>
              <a:t>Решётка</a:t>
            </a:r>
            <a:r>
              <a:rPr sz="1000" b="0" dirty="0"/>
              <a:t> (15,0) — </a:t>
            </a:r>
            <a:r>
              <a:rPr sz="1000" b="0" dirty="0" err="1"/>
              <a:t>регулярность</a:t>
            </a:r>
            <a:r>
              <a:rPr sz="1000" b="0" dirty="0"/>
              <a:t> </a:t>
            </a:r>
            <a:r>
              <a:rPr sz="1000" b="0" dirty="0" err="1"/>
              <a:t>снижает</a:t>
            </a:r>
            <a:r>
              <a:rPr sz="1000" b="0" dirty="0"/>
              <a:t> </a:t>
            </a:r>
            <a:r>
              <a:rPr sz="1000" b="0" dirty="0" err="1"/>
              <a:t>число</a:t>
            </a:r>
            <a:r>
              <a:rPr sz="1000" b="0" dirty="0"/>
              <a:t> </a:t>
            </a:r>
            <a:r>
              <a:rPr sz="1000" b="0" dirty="0" err="1"/>
              <a:t>разрезов</a:t>
            </a:r>
            <a:r>
              <a:rPr sz="1000" b="0" dirty="0"/>
              <a:t>; 3) </a:t>
            </a:r>
            <a:r>
              <a:rPr sz="1000" b="0" dirty="0" err="1"/>
              <a:t>Фишер</a:t>
            </a:r>
            <a:r>
              <a:rPr sz="1000" b="0" dirty="0"/>
              <a:t>–</a:t>
            </a:r>
            <a:r>
              <a:rPr sz="1000" b="0" dirty="0" err="1"/>
              <a:t>Йетс</a:t>
            </a:r>
            <a:r>
              <a:rPr sz="1000" b="0" dirty="0"/>
              <a:t> (1141) ≈ ER (1153) — </a:t>
            </a:r>
            <a:r>
              <a:rPr sz="1000" b="0" dirty="0" err="1"/>
              <a:t>случайные</a:t>
            </a:r>
            <a:r>
              <a:rPr sz="1000" b="0" dirty="0"/>
              <a:t> </a:t>
            </a:r>
            <a:r>
              <a:rPr sz="1000" b="0" dirty="0" err="1"/>
              <a:t>графы</a:t>
            </a:r>
            <a:r>
              <a:rPr sz="1000" b="0" dirty="0"/>
              <a:t> </a:t>
            </a:r>
            <a:r>
              <a:rPr sz="1000" b="0" dirty="0" err="1"/>
              <a:t>неразличимы</a:t>
            </a:r>
            <a:r>
              <a:rPr sz="1000" b="0" dirty="0"/>
              <a:t>; 4) </a:t>
            </a:r>
            <a:r>
              <a:rPr sz="1000" b="0" dirty="0" err="1"/>
              <a:t>Двудольный</a:t>
            </a:r>
            <a:r>
              <a:rPr sz="1000" b="0" dirty="0"/>
              <a:t> (1179) — </a:t>
            </a:r>
            <a:r>
              <a:rPr sz="1000" b="0" dirty="0" err="1"/>
              <a:t>алгоритм</a:t>
            </a:r>
            <a:r>
              <a:rPr sz="1000" b="0" dirty="0"/>
              <a:t> </a:t>
            </a:r>
            <a:r>
              <a:rPr sz="1000" b="0" dirty="0" err="1"/>
              <a:t>не</a:t>
            </a:r>
            <a:r>
              <a:rPr sz="1000" b="0" dirty="0"/>
              <a:t> </a:t>
            </a:r>
            <a:r>
              <a:rPr sz="1000" b="0" dirty="0" err="1"/>
              <a:t>эксплуатирует</a:t>
            </a:r>
            <a:r>
              <a:rPr sz="1000" b="0" dirty="0"/>
              <a:t> </a:t>
            </a:r>
            <a:r>
              <a:rPr sz="1000" b="0" dirty="0" err="1"/>
              <a:t>двудольность</a:t>
            </a:r>
            <a:r>
              <a:rPr sz="1000" b="0" dirty="0"/>
              <a:t> </a:t>
            </a:r>
            <a:r>
              <a:rPr sz="1000" b="0" dirty="0" err="1"/>
              <a:t>при</a:t>
            </a:r>
            <a:r>
              <a:rPr sz="1000" b="0" dirty="0"/>
              <a:t> </a:t>
            </a:r>
            <a:r>
              <a:rPr sz="1000" b="0" dirty="0" err="1"/>
              <a:t>высокой</a:t>
            </a:r>
            <a:r>
              <a:rPr sz="1000" b="0" dirty="0"/>
              <a:t> </a:t>
            </a:r>
            <a:r>
              <a:rPr sz="1000" b="0" dirty="0" err="1"/>
              <a:t>плотности</a:t>
            </a:r>
            <a:r>
              <a:rPr sz="1000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62609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Результаты: структурированные графы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BE639-8663-453E-BD2F-8E686FE65E3D}"/>
              </a:ext>
            </a:extLst>
          </p:cNvPr>
          <p:cNvSpPr txBox="1"/>
          <p:nvPr/>
        </p:nvSpPr>
        <p:spPr>
          <a:xfrm>
            <a:off x="838200" y="1569472"/>
            <a:ext cx="74002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Влияние структуры графа на качество разбиения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92984D-A009-8B89-C061-C94B138E3BF8}"/>
              </a:ext>
            </a:extLst>
          </p:cNvPr>
          <p:cNvSpPr txBox="1"/>
          <p:nvPr/>
        </p:nvSpPr>
        <p:spPr>
          <a:xfrm>
            <a:off x="2577300" y="528852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/>
              <a:t>Вывод: Цепочечный граф — предельный случай: оптимальный разрез = 1 ребро. FM при n=200 достигает 7,3 межсоединений против 28,7 у KL (+74,4%). При n=600 разрыв сохраняется: 20,7 vs 79,3. На случайных и двудольных графах преимущество FM умеренное (1–12%). Причина: FM перемещает по одной вершине и точнее адаптируется к локальной структуре; KL застревает в локальных минимумах при обмене парами.</a:t>
            </a:r>
          </a:p>
        </p:txBody>
      </p:sp>
      <p:pic>
        <p:nvPicPr>
          <p:cNvPr id="4" name="Рисунок 3" descr="Изображение выглядит как текст, снимок экрана, число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0C582BF-1046-54C1-63A0-B51DC103E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2562803"/>
            <a:ext cx="4306099" cy="233024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число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A09B86C-1127-D1FE-446E-4F41769782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300" y="2562803"/>
            <a:ext cx="4306100" cy="233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692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Результаты: время работы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BE639-8663-453E-BD2F-8E686FE65E3D}"/>
              </a:ext>
            </a:extLst>
          </p:cNvPr>
          <p:cNvSpPr txBox="1"/>
          <p:nvPr/>
        </p:nvSpPr>
        <p:spPr>
          <a:xfrm>
            <a:off x="838200" y="1569472"/>
            <a:ext cx="7400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Время работы алгоритмов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92984D-A009-8B89-C061-C94B138E3BF8}"/>
              </a:ext>
            </a:extLst>
          </p:cNvPr>
          <p:cNvSpPr txBox="1"/>
          <p:nvPr/>
        </p:nvSpPr>
        <p:spPr>
          <a:xfrm>
            <a:off x="2088350" y="552392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/>
              <a:t>Вывод: Скорость FM кратно превосходит KL и разрыв </a:t>
            </a:r>
            <a:r>
              <a:rPr lang="ru-RU" sz="1100" dirty="0" err="1"/>
              <a:t>нарастает.Рост</a:t>
            </a:r>
            <a:r>
              <a:rPr lang="ru-RU" sz="1100" dirty="0"/>
              <a:t> времени KL квадратичный — O(n²·k); FM линейный — O((n+m)·k). При n=1000: KL — 80 213 мс (&gt;80 сек), FM — 721 мс. </a:t>
            </a:r>
          </a:p>
        </p:txBody>
      </p:sp>
      <p:pic>
        <p:nvPicPr>
          <p:cNvPr id="6" name="Рисунок 5" descr="Изображение выглядит как текст, снимок экрана, График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E31F4DA-2CC8-35FD-391E-E2A6E31A8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350" y="1242893"/>
            <a:ext cx="4929724" cy="3879027"/>
          </a:xfrm>
          <a:prstGeom prst="rect">
            <a:avLst/>
          </a:prstGeom>
        </p:spPr>
      </p:pic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35708974-68F9-BAF4-AE8F-1AFA03326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876948"/>
              </p:ext>
            </p:extLst>
          </p:nvPr>
        </p:nvGraphicFramePr>
        <p:xfrm>
          <a:off x="914400" y="2309366"/>
          <a:ext cx="4870452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613">
                  <a:extLst>
                    <a:ext uri="{9D8B030D-6E8A-4147-A177-3AD203B41FA5}">
                      <a16:colId xmlns:a16="http://schemas.microsoft.com/office/drawing/2014/main" val="871055524"/>
                    </a:ext>
                  </a:extLst>
                </a:gridCol>
                <a:gridCol w="1217613">
                  <a:extLst>
                    <a:ext uri="{9D8B030D-6E8A-4147-A177-3AD203B41FA5}">
                      <a16:colId xmlns:a16="http://schemas.microsoft.com/office/drawing/2014/main" val="3866483070"/>
                    </a:ext>
                  </a:extLst>
                </a:gridCol>
                <a:gridCol w="1217613">
                  <a:extLst>
                    <a:ext uri="{9D8B030D-6E8A-4147-A177-3AD203B41FA5}">
                      <a16:colId xmlns:a16="http://schemas.microsoft.com/office/drawing/2014/main" val="541555970"/>
                    </a:ext>
                  </a:extLst>
                </a:gridCol>
                <a:gridCol w="1217613">
                  <a:extLst>
                    <a:ext uri="{9D8B030D-6E8A-4147-A177-3AD203B41FA5}">
                      <a16:colId xmlns:a16="http://schemas.microsoft.com/office/drawing/2014/main" val="31459955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KL (</a:t>
                      </a:r>
                      <a:r>
                        <a:rPr lang="ru-RU" dirty="0"/>
                        <a:t>мс)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FM (</a:t>
                      </a:r>
                      <a:r>
                        <a:rPr lang="ru-RU" dirty="0"/>
                        <a:t>мс)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FM </a:t>
                      </a:r>
                      <a:r>
                        <a:rPr lang="ru-RU" dirty="0"/>
                        <a:t>быстрее 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874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1,21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1,8×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490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8,36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712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54,17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3,18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17×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294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344,00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18,29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19×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575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2561,89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67,26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38×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375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8913,70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230,40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39×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774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91073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Результаты: время работы</a:t>
            </a:r>
          </a:p>
        </p:txBody>
      </p:sp>
      <p:pic>
        <p:nvPicPr>
          <p:cNvPr id="7" name="Рисунок 6" descr="Изображение выглядит как текст, снимок экрана, линия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E9B9045-1607-A371-84FA-EA9D884C8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376872"/>
            <a:ext cx="7169804" cy="4495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41732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/>
              <a:t>Корреляция итераций и времени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423160"/>
            <a:ext cx="429768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/>
              <a:t>• </a:t>
            </a:r>
            <a:r>
              <a:rPr sz="1100" b="0" dirty="0" err="1"/>
              <a:t>Формы</a:t>
            </a:r>
            <a:r>
              <a:rPr sz="1100" b="0" dirty="0"/>
              <a:t> </a:t>
            </a:r>
            <a:r>
              <a:rPr sz="1100" b="0" dirty="0" err="1"/>
              <a:t>кривых</a:t>
            </a:r>
            <a:r>
              <a:rPr sz="1100" b="0" dirty="0"/>
              <a:t> «</a:t>
            </a:r>
            <a:r>
              <a:rPr sz="1100" b="0" dirty="0" err="1"/>
              <a:t>итерации</a:t>
            </a:r>
            <a:r>
              <a:rPr sz="1100" b="0" dirty="0"/>
              <a:t>» и «</a:t>
            </a:r>
            <a:r>
              <a:rPr sz="1100" b="0" dirty="0" err="1"/>
              <a:t>время</a:t>
            </a:r>
            <a:r>
              <a:rPr sz="1100" b="0" dirty="0"/>
              <a:t>» </a:t>
            </a:r>
            <a:r>
              <a:rPr sz="1100" b="0" dirty="0" err="1"/>
              <a:t>совпадают</a:t>
            </a:r>
            <a:r>
              <a:rPr sz="1100" b="0" dirty="0"/>
              <a:t> — </a:t>
            </a:r>
            <a:r>
              <a:rPr sz="1100" b="0" dirty="0" err="1"/>
              <a:t>корреляция</a:t>
            </a:r>
            <a:r>
              <a:rPr sz="1100" b="0" dirty="0"/>
              <a:t> </a:t>
            </a:r>
            <a:r>
              <a:rPr sz="1100" b="0" dirty="0" err="1"/>
              <a:t>прямая</a:t>
            </a:r>
            <a:r>
              <a:rPr sz="1100" b="0" dirty="0"/>
              <a:t>.
• </a:t>
            </a:r>
            <a:r>
              <a:rPr sz="1100" b="0" dirty="0" err="1"/>
              <a:t>При</a:t>
            </a:r>
            <a:r>
              <a:rPr sz="1100" b="0" dirty="0"/>
              <a:t> n=1000: KL — 906 </a:t>
            </a:r>
            <a:r>
              <a:rPr sz="1100" b="0" dirty="0" err="1"/>
              <a:t>ходов</a:t>
            </a:r>
            <a:r>
              <a:rPr sz="1100" b="0" dirty="0"/>
              <a:t>, 80 213 </a:t>
            </a:r>
            <a:r>
              <a:rPr sz="1100" b="0" dirty="0" err="1"/>
              <a:t>мс</a:t>
            </a:r>
            <a:r>
              <a:rPr sz="1100" b="0" dirty="0"/>
              <a:t>; FM — 896 </a:t>
            </a:r>
            <a:r>
              <a:rPr sz="1100" b="0" dirty="0" err="1"/>
              <a:t>ходов</a:t>
            </a:r>
            <a:r>
              <a:rPr sz="1100" b="0" dirty="0"/>
              <a:t>, 721 </a:t>
            </a:r>
            <a:r>
              <a:rPr sz="1100" b="0" dirty="0" err="1"/>
              <a:t>мс</a:t>
            </a:r>
            <a:r>
              <a:rPr sz="1100" b="0" dirty="0"/>
              <a:t>. </a:t>
            </a:r>
            <a:r>
              <a:rPr sz="1100" b="0" dirty="0" err="1"/>
              <a:t>Число</a:t>
            </a:r>
            <a:r>
              <a:rPr sz="1100" b="0" dirty="0"/>
              <a:t> </a:t>
            </a:r>
            <a:r>
              <a:rPr sz="1100" b="0" dirty="0" err="1"/>
              <a:t>ходов</a:t>
            </a:r>
            <a:r>
              <a:rPr sz="1100" b="0" dirty="0"/>
              <a:t> </a:t>
            </a:r>
            <a:r>
              <a:rPr sz="1100" b="0" dirty="0" err="1"/>
              <a:t>почти</a:t>
            </a:r>
            <a:r>
              <a:rPr sz="1100" b="0" dirty="0"/>
              <a:t> </a:t>
            </a:r>
            <a:r>
              <a:rPr sz="1100" b="0" dirty="0" err="1"/>
              <a:t>одинаково</a:t>
            </a:r>
            <a:r>
              <a:rPr sz="1100" b="0" dirty="0"/>
              <a:t>, </a:t>
            </a:r>
            <a:r>
              <a:rPr sz="1100" b="0" dirty="0" err="1"/>
              <a:t>но</a:t>
            </a:r>
            <a:r>
              <a:rPr sz="1100" b="0" dirty="0"/>
              <a:t> </a:t>
            </a:r>
            <a:r>
              <a:rPr sz="1100" b="0" dirty="0" err="1"/>
              <a:t>каждый</a:t>
            </a:r>
            <a:r>
              <a:rPr sz="1100" b="0" dirty="0"/>
              <a:t> </a:t>
            </a:r>
            <a:r>
              <a:rPr sz="1100" b="0" dirty="0" err="1"/>
              <a:t>ход</a:t>
            </a:r>
            <a:r>
              <a:rPr sz="1100" b="0" dirty="0"/>
              <a:t> KL </a:t>
            </a:r>
            <a:r>
              <a:rPr sz="1100" b="0" dirty="0" err="1"/>
              <a:t>дороже</a:t>
            </a:r>
            <a:r>
              <a:rPr sz="1100" b="0" dirty="0"/>
              <a:t>.
• KL </a:t>
            </a:r>
            <a:r>
              <a:rPr sz="1100" b="0" dirty="0" err="1"/>
              <a:t>пересчитывает</a:t>
            </a:r>
            <a:r>
              <a:rPr sz="1100" b="0" dirty="0"/>
              <a:t> gain </a:t>
            </a:r>
            <a:r>
              <a:rPr sz="1100" b="0" dirty="0" err="1"/>
              <a:t>для</a:t>
            </a:r>
            <a:r>
              <a:rPr sz="1100" b="0" dirty="0"/>
              <a:t> </a:t>
            </a:r>
            <a:r>
              <a:rPr sz="1100" b="0" dirty="0" err="1"/>
              <a:t>всех</a:t>
            </a:r>
            <a:r>
              <a:rPr sz="1100" b="0" dirty="0"/>
              <a:t> </a:t>
            </a:r>
            <a:r>
              <a:rPr sz="1100" b="0" dirty="0" err="1"/>
              <a:t>пар</a:t>
            </a:r>
            <a:r>
              <a:rPr sz="1100" b="0" dirty="0"/>
              <a:t> O(n²); FM — </a:t>
            </a:r>
            <a:r>
              <a:rPr sz="1100" b="0" dirty="0" err="1"/>
              <a:t>только</a:t>
            </a:r>
            <a:r>
              <a:rPr sz="1100" b="0" dirty="0"/>
              <a:t> </a:t>
            </a:r>
            <a:r>
              <a:rPr sz="1100" b="0" dirty="0" err="1"/>
              <a:t>для</a:t>
            </a:r>
            <a:r>
              <a:rPr sz="1100" b="0" dirty="0"/>
              <a:t> </a:t>
            </a:r>
            <a:r>
              <a:rPr sz="1100" b="0" dirty="0" err="1"/>
              <a:t>соседей</a:t>
            </a:r>
            <a:r>
              <a:rPr sz="1100" b="0" dirty="0"/>
              <a:t> </a:t>
            </a:r>
            <a:r>
              <a:rPr sz="1100" b="0" dirty="0" err="1"/>
              <a:t>перемещённой</a:t>
            </a:r>
            <a:r>
              <a:rPr sz="1100" b="0" dirty="0"/>
              <a:t> </a:t>
            </a:r>
            <a:r>
              <a:rPr sz="1100" b="0" dirty="0" err="1"/>
              <a:t>вершины</a:t>
            </a:r>
            <a:r>
              <a:rPr sz="1100" b="0" dirty="0"/>
              <a:t> O(deg).
• </a:t>
            </a:r>
            <a:r>
              <a:rPr sz="1100" b="0" dirty="0" err="1"/>
              <a:t>Разрыв</a:t>
            </a:r>
            <a:r>
              <a:rPr sz="1100" b="0" dirty="0"/>
              <a:t> </a:t>
            </a:r>
            <a:r>
              <a:rPr sz="1100" b="0" dirty="0" err="1"/>
              <a:t>во</a:t>
            </a:r>
            <a:r>
              <a:rPr sz="1100" b="0" dirty="0"/>
              <a:t> </a:t>
            </a:r>
            <a:r>
              <a:rPr sz="1100" b="0" dirty="0" err="1"/>
              <a:t>времени</a:t>
            </a:r>
            <a:r>
              <a:rPr sz="1100" b="0" dirty="0"/>
              <a:t> </a:t>
            </a:r>
            <a:r>
              <a:rPr sz="1100" b="0" dirty="0" err="1"/>
              <a:t>растёт</a:t>
            </a:r>
            <a:r>
              <a:rPr sz="1100" b="0" dirty="0"/>
              <a:t> с n: </a:t>
            </a:r>
            <a:r>
              <a:rPr sz="1100" b="0" dirty="0" err="1"/>
              <a:t>при</a:t>
            </a:r>
            <a:r>
              <a:rPr sz="1100" b="0" dirty="0"/>
              <a:t> n=50 — 11×, </a:t>
            </a:r>
            <a:r>
              <a:rPr sz="1100" b="0" dirty="0" err="1"/>
              <a:t>при</a:t>
            </a:r>
            <a:r>
              <a:rPr sz="1100" b="0" dirty="0"/>
              <a:t> n=1000 — 111×.
• </a:t>
            </a:r>
            <a:r>
              <a:rPr sz="1100" b="0" dirty="0" err="1"/>
              <a:t>Вывод</a:t>
            </a:r>
            <a:r>
              <a:rPr sz="1100" b="0" dirty="0"/>
              <a:t>: </a:t>
            </a:r>
            <a:r>
              <a:rPr sz="1100" b="0" dirty="0" err="1"/>
              <a:t>итерационная</a:t>
            </a:r>
            <a:r>
              <a:rPr sz="1100" b="0" dirty="0"/>
              <a:t> </a:t>
            </a:r>
            <a:r>
              <a:rPr sz="1100" b="0" dirty="0" err="1"/>
              <a:t>сложность</a:t>
            </a:r>
            <a:r>
              <a:rPr sz="1100" b="0" dirty="0"/>
              <a:t> </a:t>
            </a:r>
            <a:r>
              <a:rPr sz="1100" b="0" dirty="0" err="1"/>
              <a:t>алгоритмов</a:t>
            </a:r>
            <a:r>
              <a:rPr sz="1100" b="0" dirty="0"/>
              <a:t> </a:t>
            </a:r>
            <a:r>
              <a:rPr sz="1100" b="0" dirty="0" err="1"/>
              <a:t>одинакова</a:t>
            </a:r>
            <a:r>
              <a:rPr sz="1100" b="0" dirty="0"/>
              <a:t>, </a:t>
            </a:r>
            <a:r>
              <a:rPr sz="1100" b="0" dirty="0" err="1"/>
              <a:t>но</a:t>
            </a:r>
            <a:r>
              <a:rPr sz="1100" b="0" dirty="0"/>
              <a:t> FM </a:t>
            </a:r>
            <a:r>
              <a:rPr sz="1100" b="0" dirty="0" err="1"/>
              <a:t>побеждает</a:t>
            </a:r>
            <a:r>
              <a:rPr sz="1100" b="0" dirty="0"/>
              <a:t> </a:t>
            </a:r>
            <a:r>
              <a:rPr sz="1100" b="0" dirty="0" err="1"/>
              <a:t>за</a:t>
            </a:r>
            <a:r>
              <a:rPr sz="1100" b="0" dirty="0"/>
              <a:t> </a:t>
            </a:r>
            <a:r>
              <a:rPr sz="1100" b="0" dirty="0" err="1"/>
              <a:t>счёт</a:t>
            </a:r>
            <a:r>
              <a:rPr sz="1100" b="0" dirty="0"/>
              <a:t> </a:t>
            </a:r>
            <a:r>
              <a:rPr sz="1100" b="0" dirty="0" err="1"/>
              <a:t>дешевизны</a:t>
            </a:r>
            <a:r>
              <a:rPr sz="1100" b="0" dirty="0"/>
              <a:t> </a:t>
            </a:r>
            <a:r>
              <a:rPr sz="1100" b="0" dirty="0" err="1"/>
              <a:t>одного</a:t>
            </a:r>
            <a:r>
              <a:rPr sz="1100" b="0" dirty="0"/>
              <a:t> </a:t>
            </a:r>
            <a:r>
              <a:rPr sz="1100" b="0" dirty="0" err="1"/>
              <a:t>хода</a:t>
            </a:r>
            <a:r>
              <a:rPr sz="1100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68528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BE639-8663-453E-BD2F-8E686FE65E3D}"/>
              </a:ext>
            </a:extLst>
          </p:cNvPr>
          <p:cNvSpPr txBox="1"/>
          <p:nvPr/>
        </p:nvSpPr>
        <p:spPr>
          <a:xfrm>
            <a:off x="488950" y="1570984"/>
            <a:ext cx="3613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err="1"/>
              <a:t>Керниган</a:t>
            </a:r>
            <a:r>
              <a:rPr lang="ru-RU" sz="2000" dirty="0"/>
              <a:t>–Лин (базовый)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356029-682B-B82D-77AA-74FE15FC76B7}"/>
              </a:ext>
            </a:extLst>
          </p:cNvPr>
          <p:cNvSpPr txBox="1"/>
          <p:nvPr/>
        </p:nvSpPr>
        <p:spPr>
          <a:xfrm>
            <a:off x="370414" y="1902470"/>
            <a:ext cx="38186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 - Сложность: O(n² · k), где k — число итераций</a:t>
            </a:r>
          </a:p>
          <a:p>
            <a:r>
              <a:rPr lang="ru-RU" sz="1200" dirty="0"/>
              <a:t>  - Хранит кеш выигрышей для всех пар вершин → квадратичная память</a:t>
            </a:r>
          </a:p>
          <a:p>
            <a:r>
              <a:rPr lang="ru-RU" sz="1200" dirty="0"/>
              <a:t>  - При n=600 работает ~9 секунд — неприемлемо для больших графов</a:t>
            </a:r>
          </a:p>
          <a:p>
            <a:r>
              <a:rPr lang="ru-RU" sz="1200" dirty="0"/>
              <a:t>  - Практичен только до n ≈ 200–300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6CB60C-3166-6F5C-CCBD-DE4B30584C07}"/>
              </a:ext>
            </a:extLst>
          </p:cNvPr>
          <p:cNvSpPr txBox="1"/>
          <p:nvPr/>
        </p:nvSpPr>
        <p:spPr>
          <a:xfrm>
            <a:off x="7112000" y="1570984"/>
            <a:ext cx="414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err="1"/>
              <a:t>Фиддуча</a:t>
            </a:r>
            <a:r>
              <a:rPr lang="ru-RU" sz="2000" dirty="0"/>
              <a:t>–Мэтьюс (эвристический)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FAC84-392A-C623-9E31-78F0060FEB11}"/>
              </a:ext>
            </a:extLst>
          </p:cNvPr>
          <p:cNvSpPr txBox="1"/>
          <p:nvPr/>
        </p:nvSpPr>
        <p:spPr>
          <a:xfrm>
            <a:off x="7112000" y="1902470"/>
            <a:ext cx="381867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 - Сложность: O((n + m) · k) за счёт пересчёта только соседей
  - При n=600 — 230 мс (в 39× быстрее KL); при n=1000 — 721 мс (в 111× быстрее)
  - На случайных графах: качество почти одинаково (разница 1–12%)
  - На структурированных графах (цепочка): FM лучше на 70–74%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534699-25DA-06D5-7896-5D41D60DA9BD}"/>
              </a:ext>
            </a:extLst>
          </p:cNvPr>
          <p:cNvSpPr txBox="1"/>
          <p:nvPr/>
        </p:nvSpPr>
        <p:spPr>
          <a:xfrm>
            <a:off x="4489450" y="3429397"/>
            <a:ext cx="414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Общие выводы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8D59EB-CE52-9E0D-FF96-5FA10A124570}"/>
              </a:ext>
            </a:extLst>
          </p:cNvPr>
          <p:cNvSpPr txBox="1"/>
          <p:nvPr/>
        </p:nvSpPr>
        <p:spPr>
          <a:xfrm>
            <a:off x="3371850" y="4183221"/>
            <a:ext cx="38186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 - Оба алгоритма находят разбиение с равными частями и минимизируют межсоединения</a:t>
            </a:r>
          </a:p>
          <a:p>
            <a:r>
              <a:rPr lang="ru-RU" sz="1200" dirty="0"/>
              <a:t>  - FM является предпочтительным выбором во всех случаях: быстрее и не хуже по качеству</a:t>
            </a:r>
          </a:p>
          <a:p>
            <a:r>
              <a:rPr lang="ru-RU" sz="1200" dirty="0"/>
              <a:t>  - Визуализация подтверждает корректность разбиения для n ≤ 100</a:t>
            </a:r>
          </a:p>
          <a:p>
            <a:r>
              <a:rPr lang="ru-RU" sz="1200" dirty="0"/>
              <a:t>  - Для целевого масштаба (10⁵ вершин, 5×10⁵ рёбер) необходимы многоуровневые методы</a:t>
            </a:r>
          </a:p>
        </p:txBody>
      </p:sp>
    </p:spTree>
    <p:extLst>
      <p:ext uri="{BB962C8B-B14F-4D97-AF65-F5344CB8AC3E}">
        <p14:creationId xmlns:p14="http://schemas.microsoft.com/office/powerpoint/2010/main" val="1075870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865</TotalTime>
  <Words>1554</Words>
  <Application>Microsoft Office PowerPoint</Application>
  <PresentationFormat>Широкоэкранный</PresentationFormat>
  <Paragraphs>176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Office Theme</vt:lpstr>
      <vt:lpstr>Разбиение графа на две части методом Кернигана-Лина</vt:lpstr>
      <vt:lpstr>Математическая постановка задачи</vt:lpstr>
      <vt:lpstr>Пример</vt:lpstr>
      <vt:lpstr>Пример</vt:lpstr>
      <vt:lpstr>Пример</vt:lpstr>
      <vt:lpstr>Пример</vt:lpstr>
      <vt:lpstr>Архитектура. Доменный слой</vt:lpstr>
      <vt:lpstr>Архитектура. Сущности графа</vt:lpstr>
      <vt:lpstr>Архитектура. Сущности разбиения графа</vt:lpstr>
      <vt:lpstr>Архитектура. Генераторы графа</vt:lpstr>
      <vt:lpstr>Архитектура. Генераторы разбиения графа</vt:lpstr>
      <vt:lpstr>Архитектура. Вспомогательные сущности</vt:lpstr>
      <vt:lpstr>Использование LLM-моделей</vt:lpstr>
      <vt:lpstr>Использование LLM-моделей</vt:lpstr>
      <vt:lpstr>Генерация графа</vt:lpstr>
      <vt:lpstr>Генератор Эрдёша-Реньи </vt:lpstr>
      <vt:lpstr>Генератор Фишера-Йетса </vt:lpstr>
      <vt:lpstr>Генератор клики</vt:lpstr>
      <vt:lpstr>Генератор цепочки</vt:lpstr>
      <vt:lpstr>Генератор прямоугольной решетки</vt:lpstr>
      <vt:lpstr>Генератор двудольного графа</vt:lpstr>
      <vt:lpstr>Генерация разбиения графа</vt:lpstr>
      <vt:lpstr>Генератор разбиения Кернигана-Лина</vt:lpstr>
      <vt:lpstr>Генератор разбиения  Фиддуча–Мэтьюса </vt:lpstr>
      <vt:lpstr>Результаты: качество разбиения</vt:lpstr>
      <vt:lpstr>Результаты: качество разбиения</vt:lpstr>
      <vt:lpstr>Результаты: структурированные графы</vt:lpstr>
      <vt:lpstr>Результаты: время работы</vt:lpstr>
      <vt:lpstr>Результаты: время работы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Сергей Чернышов</dc:creator>
  <cp:lastModifiedBy>kirill2</cp:lastModifiedBy>
  <cp:revision>34</cp:revision>
  <dcterms:created xsi:type="dcterms:W3CDTF">2026-05-12T17:00:45Z</dcterms:created>
  <dcterms:modified xsi:type="dcterms:W3CDTF">2026-05-15T12:00:22Z</dcterms:modified>
</cp:coreProperties>
</file>